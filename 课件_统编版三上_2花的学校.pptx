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2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3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embedTrueTypeFonts="1" autoCompressPictures="0">
  <p:sldMasterIdLst>
    <p:sldMasterId id="2147483650" r:id="rId1"/>
  </p:sldMasterIdLst>
  <p:notesMasterIdLst>
    <p:notesMasterId r:id="rId23"/>
  </p:notesMasterIdLst>
  <p:sldIdLst>
    <p:sldId id="256" r:id="rId2"/>
    <p:sldId id="277" r:id="rId3"/>
    <p:sldId id="272" r:id="rId10"/>
    <p:sldId id="281" r:id="rId34"/>
    <p:sldId id="257" r:id="rId4"/>
    <p:sldId id="260" r:id="rId7"/>
    <p:sldId id="273" r:id="rId19"/>
    <p:sldId id="282" r:id="rId35"/>
    <p:sldId id="263" r:id="rId11"/>
    <p:sldId id="266" r:id="rId13"/>
    <p:sldId id="274" r:id="rId20"/>
    <p:sldId id="268" r:id="rId17"/>
    <p:sldId id="276" r:id="rId21"/>
    <p:sldId id="280" r:id="rId22"/>
  </p:sldIdLst>
  <p:sldSz cx="9144000" cy="5143500" type="screen16x9"/>
  <p:notesSz cx="13716000" cy="24387175"/>
  <p:embeddedFontLst>
    <p:embeddedFont>
      <p:font typeface="Inter Light"/>
      <p:regular r:id="rId36"/>
    </p:embeddedFont>
    <p:embeddedFont>
      <p:font typeface="Inter Medium"/>
      <p:regular r:id="rId37"/>
    </p:embeddedFont>
    <p:embeddedFont>
      <p:font typeface="Inter Regular"/>
      <p:regular r:id="rId38"/>
      <p:bold r:id="rId39"/>
    </p:embeddedFont>
    <p:embeddedFont>
      <p:font typeface="MiSans"/>
      <p:regular r:id="rId40"/>
      <p:bold r:id="rId41"/>
    </p:embeddedFont>
    <p:embeddedFont>
      <p:font typeface="MiSans Demibold"/>
      <p:regular r:id="rId42"/>
    </p:embeddedFont>
    <p:embeddedFont>
      <p:font typeface="MiSans Normal"/>
      <p:regular r:id="rId43"/>
      <p:bold r:id="rId44"/>
    </p:embeddedFont>
    <p:embeddedFont>
      <p:font typeface="Plus Jakarta Sans Regular"/>
      <p:regular r:id="rId45"/>
      <p:bold r:id="rId46"/>
    </p:embeddedFont>
  </p:embeddedFontLst>
  <p:embeddedFontLst>
    <p:embeddedFont>
      <p:font typeface="MiSans Demibold" pitchFamily="2" charset="-122"/>
      <p:regular r:id="rId24"/>
    </p:embeddedFont>
    <p:embeddedFont>
      <p:font typeface="Inter Medium" panose="02000503000000020004"/>
      <p:regular r:id="rId25"/>
      <p:bold r:id="rId26"/>
    </p:embeddedFont>
    <p:embeddedFont>
      <p:font typeface="MiSans"/>
      <p:regular r:id="rId27"/>
      <p:bold r:id="rId28"/>
    </p:embeddedFont>
    <p:embeddedFont>
      <p:font typeface="MiSans Normal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7E9"/>
    <a:srgbClr val="B2D699"/>
    <a:srgbClr val="548235"/>
    <a:srgbClr val="7CAB32"/>
    <a:srgbClr val="BBDA6F"/>
    <a:srgbClr val="CAE9F4"/>
    <a:srgbClr val="8EBD3B"/>
    <a:srgbClr val="65A755"/>
    <a:srgbClr val="3C7AA6"/>
    <a:srgbClr val="80A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theme" Target="theme/theme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presProps" Target="presProps.xml"/><Relationship Id="rId34" Type="http://schemas.openxmlformats.org/officeDocument/2006/relationships/slide" Target="slides/slide22.xml"/><Relationship Id="rId35" Type="http://schemas.openxmlformats.org/officeDocument/2006/relationships/slide" Target="slides/slide23.xml"/><Relationship Id="rId36" Type="http://schemas.openxmlformats.org/officeDocument/2006/relationships/font" Target="fonts/font1.fntdata"/><Relationship Id="rId37" Type="http://schemas.openxmlformats.org/officeDocument/2006/relationships/font" Target="fonts/font2.fntdata"/><Relationship Id="rId38" Type="http://schemas.openxmlformats.org/officeDocument/2006/relationships/font" Target="fonts/font3.fntdata"/><Relationship Id="rId39" Type="http://schemas.openxmlformats.org/officeDocument/2006/relationships/font" Target="fonts/font4.fntdata"/><Relationship Id="rId40" Type="http://schemas.openxmlformats.org/officeDocument/2006/relationships/font" Target="fonts/font5.fntdata"/><Relationship Id="rId41" Type="http://schemas.openxmlformats.org/officeDocument/2006/relationships/font" Target="fonts/font6.fntdata"/><Relationship Id="rId42" Type="http://schemas.openxmlformats.org/officeDocument/2006/relationships/font" Target="fonts/font7.fntdata"/><Relationship Id="rId43" Type="http://schemas.openxmlformats.org/officeDocument/2006/relationships/font" Target="fonts/font8.fntdata"/><Relationship Id="rId44" Type="http://schemas.openxmlformats.org/officeDocument/2006/relationships/font" Target="fonts/font9.fntdata"/><Relationship Id="rId45" Type="http://schemas.openxmlformats.org/officeDocument/2006/relationships/font" Target="fonts/font10.fntdata"/><Relationship Id="rId46" Type="http://schemas.openxmlformats.org/officeDocument/2006/relationships/font" Target="fonts/font11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8053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0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809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213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617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021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426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199830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234" algn="l" defTabSz="342809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封面：今天我们走进泰戈尔的《花的学校》。先别急着读，看一眼课题——学校是谁办的？学生是谁？带着这个问题进课文。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第一部分：课前签到，先让全班热起来，答到时说一个描写雨的词语，顺便复习词语积累。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情境导入：从学生熟悉的增城六月雷雨后的野花切入，把「花孩子」的形象立起来，再引出泰戈尔。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初读任务：自由朗读两遍，边读边标小节号；思考题三个问题答案都在课文里，读完后交流。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点名签到页：点到名字大声答「到」，再说一个描写雨的词语为本组挣一朵小花；再抽一位今日小主播说一句「雨一来，他们便……」。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品读「地下的学校」：读句子，想象画面，说说读出了一群怎样的花孩子，鼓励用上课文里的词。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最关键的一页：先让学生自己找出觉得新鲜的句子，再聚焦「东风走过荒野、吹着口笛」，点明拟人手法，板书「把事物当人来写」。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积分榜：按答到、朗读、找拟人句、仿写、书写五项给星，下课前评出今日星光小组。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生字闯关：重点抓多音字「假」，易错字「舞、荒、罚」；理解义用图片和动作帮助记忆。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幸运大转盘：转到哪一组，哪一组起立朗读对应小节，读对得两颗星，读错请另一组接上。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作业：基础作业抄写与背诵必做；挑战作业是仿写，给出句式支架，写得好的明天当范文读。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收束：让学生用一句话说说花孩子是个怎样的孩子，提醒把拟人句抄进积累本。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第二部分：初读识字，目标是读通课文、扫清字词障碍。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p14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zh-CN" dirty="0"/>
              <a:t>第三部分：品读感悟，本课时重点是找出有新鲜感的词句，体会拟人。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4479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86713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402865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12644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4536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9222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54110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32235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50700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138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2512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31314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322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g_3861308ce2.jp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g_046ab911c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78d79d6b58.jp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g_94a7ee475c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image" Target="../media/img_0ee0631348.jpg"/><Relationship Id="rId4" Type="http://schemas.openxmlformats.org/officeDocument/2006/relationships/image" Target="../media/img_2ab18337c8.jp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g_0da6bdda5d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g_a7e3f7085e.jp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089E8DB7-D260-FFDA-4BD9-D4529823D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732" y="0"/>
            <a:ext cx="4444268" cy="51435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id="{9FA20D1F-5B0D-CEC4-B6D4-F31A950A4324}"/>
              </a:ext>
            </a:extLst>
          </p:cNvPr>
          <p:cNvSpPr/>
          <p:nvPr/>
        </p:nvSpPr>
        <p:spPr>
          <a:xfrm>
            <a:off x="4699732" y="0"/>
            <a:ext cx="4444268" cy="5143500"/>
          </a:xfrm>
          <a:prstGeom prst="rect">
            <a:avLst/>
          </a:prstGeom>
          <a:solidFill>
            <a:schemeClr val="tx1">
              <a:lumMod val="65000"/>
              <a:lumOff val="3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id="{11F0FDC0-FA29-B69A-AE24-6B2CADE49CD0}"/>
              </a:ext>
            </a:extLst>
          </p:cNvPr>
          <p:cNvSpPr/>
          <p:nvPr/>
        </p:nvSpPr>
        <p:spPr>
          <a:xfrm>
            <a:off x="7248487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+mn-ea"/>
                <a:cs typeface="Plus Jakarta Sans Regular" pitchFamily="2" charset="0"/>
              </a:rPr>
              <a:t>统编版·语文三年级上册</a:t>
            </a:r>
            <a:endParaRPr lang="en-US" sz="825" b="1" dirty="0">
              <a:solidFill>
                <a:schemeClr val="bg1"/>
              </a:solidFill>
              <a:latin typeface="+mn-ea"/>
              <a:cs typeface="Plus Jakarta Sans Regular" pitchFamily="2" charset="0"/>
            </a:endParaRPr>
          </a:p>
        </p:txBody>
      </p:sp>
      <p:sp>
        <p:nvSpPr>
          <p:cNvPr id="4" name="Text 0"/>
          <p:cNvSpPr/>
          <p:nvPr/>
        </p:nvSpPr>
        <p:spPr>
          <a:xfrm>
            <a:off x="285749" y="186048"/>
            <a:ext cx="1946240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FFFFFF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广州市增城区 ＿＿ 小学</a:t>
            </a:r>
            <a:endParaRPr lang="en-US" sz="825" b="1" dirty="0"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285750" y="2381835"/>
            <a:ext cx="4158432" cy="1437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320"/>
              </a:lnSpc>
            </a:pPr>
            <a:r>
              <a:rPr lang="en-US" altLang="zh-CN" sz="3600" dirty="0">
                <a:solidFill>
                  <a:srgbClr val="FFFFFF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2 花的学校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285748" y="3819363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授课教师：＿＿＿＿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2">
            <a:extLst>
              <a:ext uri="{FF2B5EF4-FFF2-40B4-BE49-F238E27FC236}">
                <a16:creationId id="{C007DFB7-4839-A0F7-E833-61F57BAB2C6A}"/>
              </a:ext>
            </a:extLst>
          </p:cNvPr>
          <p:cNvSpPr/>
          <p:nvPr/>
        </p:nvSpPr>
        <p:spPr>
          <a:xfrm>
            <a:off x="3428982" y="186048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Plus Jakarta Sans Regular" pitchFamily="2" charset="0"/>
              </a:rPr>
              <a:t>三年级（  ）班</a:t>
            </a:r>
            <a:endParaRPr lang="en-US" sz="825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Plus Jakarta Sans Regular" pitchFamily="2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id="{24860387-D044-F689-DE1C-6AB48C1B4457}"/>
              </a:ext>
            </a:extLst>
          </p:cNvPr>
          <p:cNvSpPr/>
          <p:nvPr/>
        </p:nvSpPr>
        <p:spPr>
          <a:xfrm>
            <a:off x="285748" y="4059228"/>
            <a:ext cx="24717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>第一单元 · 学校生活</a:t>
            </a:r>
            <a:r>
              <a:rPr lang="zh-CN" altLang="en-US" sz="900" b="1" dirty="0">
                <a:solidFill>
                  <a:srgbClr val="878787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Inter Regular" pitchFamily="34" charset="-120"/>
              </a:rPr>
              <a:t/>
            </a:r>
            <a:endParaRPr lang="en-US" sz="900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01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课前签到 · 热身闯关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id="{1F830095-E384-F819-C8AA-514C4B8086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980" r="29980"/>
          <a:stretch>
            <a:fillRect/>
          </a:stretch>
        </p:blipFill>
        <p:spPr>
          <a:xfrm>
            <a:off x="190499" y="193717"/>
            <a:ext cx="3047984" cy="42856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花的学校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7" name="Text 4"/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428983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6"/>
          <p:cNvSpPr/>
          <p:nvPr/>
        </p:nvSpPr>
        <p:spPr>
          <a:xfrm>
            <a:off x="3428982" y="3390793"/>
            <a:ext cx="2628886" cy="3193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latin typeface="MiSans" pitchFamily="2" charset="-122"/>
                <a:ea typeface="MiSans" pitchFamily="2" charset="-122"/>
                <a:cs typeface="Inter Medium" pitchFamily="34" charset="-120"/>
              </a:rPr>
              <a:t>雨一来就放假</a:t>
            </a:r>
            <a:endParaRPr lang="en-US" sz="1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28983" y="3828886"/>
            <a:ext cx="2628886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增城的六月，雷雨过后，荔枝林下的野花全冒了出来。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如果你是一朵小花，雨一来，你会去做什么？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印度诗人泰戈尔说：花孩子也有自己的学校。</a:t>
            </a:r>
            <a:r>
              <a:rPr lang="en-US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43605" y="3390793"/>
            <a:ext cx="2533637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9"/>
          <p:cNvSpPr/>
          <p:nvPr/>
        </p:nvSpPr>
        <p:spPr>
          <a:xfrm>
            <a:off x="6243605" y="3390793"/>
            <a:ext cx="2628886" cy="319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180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说一说</a:t>
            </a:r>
            <a:endParaRPr lang="en-US" sz="1800" dirty="0">
              <a:solidFill>
                <a:srgbClr val="242424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Medium" pitchFamily="34" charset="-12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243605" y="3828886"/>
            <a:ext cx="2682348" cy="654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用「雨一来，他们便……」说一句话，说出花孩子的动作。</a:t>
            </a:r>
            <a:r>
              <a:rPr lang="en-US" altLang="zh-CN" sz="900" dirty="0" err="1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428982" y="190810"/>
            <a:ext cx="4038089" cy="1154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情境导入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6" name="Text 2">
            <a:extLst>
              <a:ext uri="{FF2B5EF4-FFF2-40B4-BE49-F238E27FC236}">
                <a16:creationId id="{DE6E33D4-D1C6-74EA-C04C-D1B1FB37F0C7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id="{CB139B56-34D3-9CBC-3FAA-7EE58481D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021" b="6021"/>
          <a:stretch>
            <a:fillRect/>
          </a:stretch>
        </p:blipFill>
        <p:spPr>
          <a:xfrm>
            <a:off x="191779" y="2333656"/>
            <a:ext cx="4332571" cy="214284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id="{4D9E2F6B-57E0-685A-0C07-CCE7E2EF8B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86" b="5986"/>
          <a:stretch>
            <a:fillRect/>
          </a:stretch>
        </p:blipFill>
        <p:spPr>
          <a:xfrm>
            <a:off x="4619602" y="2333656"/>
            <a:ext cx="4333852" cy="214284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8" name="Shape 5"/>
          <p:cNvSpPr/>
          <p:nvPr/>
        </p:nvSpPr>
        <p:spPr>
          <a:xfrm>
            <a:off x="4667226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9" name="Text 6"/>
          <p:cNvSpPr/>
          <p:nvPr/>
        </p:nvSpPr>
        <p:spPr>
          <a:xfrm>
            <a:off x="4667227" y="324143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朗读闯关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667227" y="1333661"/>
            <a:ext cx="2047865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自由朗读，读准字音，读通句子，难读的地方多读几遍。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给诗歌标上小节号，想一想写了哪些画面。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同桌互读，互相纠正一个读错的音。</a:t>
            </a:r>
          </a:p>
        </p:txBody>
      </p:sp>
      <p:sp>
        <p:nvSpPr>
          <p:cNvPr id="11" name="Shape 8"/>
          <p:cNvSpPr/>
          <p:nvPr/>
        </p:nvSpPr>
        <p:spPr>
          <a:xfrm>
            <a:off x="6905590" y="190810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9"/>
          <p:cNvSpPr/>
          <p:nvPr/>
        </p:nvSpPr>
        <p:spPr>
          <a:xfrm>
            <a:off x="6905589" y="323257"/>
            <a:ext cx="2143114" cy="3462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思考题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905590" y="1333661"/>
            <a:ext cx="2047865" cy="847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花孩子们在哪里上学？什么时候放假？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放假后他们要去哪儿，急着去见谁？</a:t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90499" y="2333656"/>
            <a:ext cx="8762954" cy="214284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7" name="Text 12"/>
          <p:cNvSpPr/>
          <p:nvPr/>
        </p:nvSpPr>
        <p:spPr>
          <a:xfrm>
            <a:off x="190499" y="190810"/>
            <a:ext cx="4286228" cy="5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500"/>
              </a:lnSpc>
            </a:pPr>
            <a:r>
              <a:rPr lang="en-US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初读任务</a:t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A490F2CE-628C-EEF8-77B0-B70A93F0E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6" name="Text 0">
            <a:extLst>
              <a:ext uri="{FF2B5EF4-FFF2-40B4-BE49-F238E27FC236}">
                <a16:creationId id="{EC93E55B-5785-3EAF-ACBB-CA0AFA1B4F05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花的学校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4">
            <a:extLst>
              <a:ext uri="{FF2B5EF4-FFF2-40B4-BE49-F238E27FC236}">
                <a16:creationId id="{07FF7B6F-60E9-E4F6-2FD9-B2F419820CE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Text 2">
            <a:extLst>
              <a:ext uri="{FF2B5EF4-FFF2-40B4-BE49-F238E27FC236}">
                <a16:creationId id="{E07D558A-DD4B-8C7E-391A-8020A54BF23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已到校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91374" y="4133647"/>
            <a:ext cx="1333493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请举手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029055" y="4133647"/>
            <a:ext cx="2217227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今日小主播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1147948"/>
            <a:ext cx="3238483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上课啦 · 点名签到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29055" y="2290799"/>
            <a:ext cx="4566250" cy="1126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听到名字大声答「到」，再说一个描写雨的词语。</a:t>
            </a:r>
            <a:r>
              <a:rPr lang="ja-JP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答完到黑板上为本组贴一朵小花，四组比一比。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今日小主播：抽 1 人，用「雨一来，他们便……」说一句话。</a:t>
            </a:r>
          </a:p>
          <a:p>
            <a:pPr>
              <a:lnSpc>
                <a:spcPts val="1785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4" name="Image 0" descr=" ">
            <a:extLst>
              <a:ext uri="{FF2B5EF4-FFF2-40B4-BE49-F238E27FC236}">
                <a16:creationId id="{47A48DB0-4C57-8CA3-9F11-FBC63287C9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5" name="Text 0">
            <a:extLst>
              <a:ext uri="{FF2B5EF4-FFF2-40B4-BE49-F238E27FC236}">
                <a16:creationId id="{66423CAB-3A55-325F-37A4-D7A7F11B2523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花的学校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83A224D0-AD08-46D2-E7B7-F3A56562777C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第1课时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2A670673-EDD2-F7F0-6AF4-229BBBFAA8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01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id="{8FC68798-DB23-F2E0-5A5B-9AB99B9140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246" b="14246"/>
          <a:stretch>
            <a:fillRect/>
          </a:stretch>
        </p:blipFill>
        <p:spPr>
          <a:xfrm>
            <a:off x="5977025" y="3278030"/>
            <a:ext cx="2976428" cy="11984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id="{05519FCD-2BD1-E32B-460B-C3A44B05E1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118" b="14118"/>
          <a:stretch>
            <a:fillRect/>
          </a:stretch>
        </p:blipFill>
        <p:spPr>
          <a:xfrm>
            <a:off x="2909870" y="3278031"/>
            <a:ext cx="2974166" cy="1198471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id="{D91806F6-EFB1-67F1-2900-9466C5E4851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52" b="5752"/>
          <a:stretch>
            <a:fillRect/>
          </a:stretch>
        </p:blipFill>
        <p:spPr>
          <a:xfrm>
            <a:off x="2909872" y="190810"/>
            <a:ext cx="6043581" cy="30063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909873" y="190810"/>
            <a:ext cx="6043581" cy="4285692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Shape 6"/>
          <p:cNvSpPr/>
          <p:nvPr/>
        </p:nvSpPr>
        <p:spPr>
          <a:xfrm>
            <a:off x="2909873" y="2381275"/>
            <a:ext cx="6043581" cy="2095227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7"/>
          <p:cNvSpPr/>
          <p:nvPr/>
        </p:nvSpPr>
        <p:spPr>
          <a:xfrm>
            <a:off x="190499" y="190810"/>
            <a:ext cx="2471724" cy="130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地下的学校</a:t>
            </a:r>
          </a:p>
          <a:p>
            <a:pPr>
              <a:lnSpc>
                <a:spcPts val="4000"/>
              </a:lnSpc>
            </a:pPr>
            <a:r>
              <a:rPr lang="en-US" altLang="zh-CN" sz="37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endParaRPr lang="en-US" sz="37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5" name="Text 9"/>
          <p:cNvSpPr/>
          <p:nvPr/>
        </p:nvSpPr>
        <p:spPr>
          <a:xfrm>
            <a:off x="190499" y="339079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读一读，想象画面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190499" y="3828886"/>
            <a:ext cx="2566974" cy="68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他们关了门做功课。如果他们想在放学以前出来游戏，他们的老师是要罚他们站墙角的。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你读出了一群怎样的花孩子——调皮、贪玩、有点怕老师。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altLang="zh-CN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0" name="Image 0" descr=" ">
            <a:extLst>
              <a:ext uri="{FF2B5EF4-FFF2-40B4-BE49-F238E27FC236}">
                <a16:creationId id="{B39A61FF-4594-BA76-36C1-51BC74E0E0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D65B94E5-7AC1-F28E-7B68-7B3313B4AD7E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花的学校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BED90D52-2D89-9DC6-2B30-70A9E6CA1EF4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0085A05-991F-7019-B415-F7C9AB4E1440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id="{4C0A8FBE-418C-8853-EA33-C0853C58E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07" b="7807"/>
          <a:stretch>
            <a:fillRect/>
          </a:stretch>
        </p:blipFill>
        <p:spPr>
          <a:xfrm>
            <a:off x="190499" y="2757464"/>
            <a:ext cx="3619481" cy="171928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id="{2371A694-7975-EB79-592F-5BDECC6B44A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82" b="6082"/>
          <a:stretch>
            <a:fillRect/>
          </a:stretch>
        </p:blipFill>
        <p:spPr>
          <a:xfrm>
            <a:off x="3894048" y="190810"/>
            <a:ext cx="5097551" cy="2516756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251303" y="3128890"/>
            <a:ext cx="4448050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品读时刻</a:t>
            </a:r>
            <a:endParaRPr lang="en-US" sz="645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7" name="Shape 2"/>
          <p:cNvSpPr/>
          <p:nvPr/>
        </p:nvSpPr>
        <p:spPr>
          <a:xfrm>
            <a:off x="4029054" y="4852691"/>
            <a:ext cx="4829150" cy="10476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1" name="Shape 6"/>
          <p:cNvSpPr/>
          <p:nvPr/>
        </p:nvSpPr>
        <p:spPr>
          <a:xfrm>
            <a:off x="190499" y="190810"/>
            <a:ext cx="3524232" cy="2380940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2" name="Text 7"/>
          <p:cNvSpPr/>
          <p:nvPr/>
        </p:nvSpPr>
        <p:spPr>
          <a:xfrm>
            <a:off x="190499" y="190810"/>
            <a:ext cx="3619481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有新鲜感的词句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90499" y="1719263"/>
            <a:ext cx="3562331" cy="9884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湿润的东风走过荒野，在竹林中吹着口笛。</a:t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新鲜在哪：东风会「走」会「吹口笛」，被写成了人。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这就是拟人——把事物当人来写，画面立刻活了。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3878439D-C8C2-812B-B888-8B1014875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5A8EB87F-B186-655F-5ABD-F8103F97F918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花的学校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88643130-6C5F-001D-A5E9-705F6DF34518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B27CD63E-560B-AB04-5DE7-E92E5D29FDF2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id="{EF93D6B1-C1D5-8FDA-B9C7-202A86FF04E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b="19688"/>
          <a:stretch>
            <a:fillRect/>
          </a:stretch>
        </p:blipFill>
        <p:spPr>
          <a:xfrm>
            <a:off x="0" y="335"/>
            <a:ext cx="9143952" cy="514283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id="{2A395852-B497-E09E-B7EA-AFBA766BD754}"/>
              </a:ext>
            </a:extLst>
          </p:cNvPr>
          <p:cNvSpPr/>
          <p:nvPr/>
        </p:nvSpPr>
        <p:spPr>
          <a:xfrm>
            <a:off x="48" y="-1"/>
            <a:ext cx="9143952" cy="514316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id="{3BDAEA4F-BD9D-CAA7-0788-1EFBEC6C9131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2945293" y="1879080"/>
            <a:ext cx="6389110" cy="2787898"/>
          </a:xfrm>
          <a:prstGeom prst="rect">
            <a:avLst/>
          </a:prstGeom>
          <a:noFill/>
          <a:ln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22500"/>
              </a:lnSpc>
            </a:pPr>
            <a:r>
              <a:rPr lang="en-US" sz="17000" spc="75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5★</a:t>
            </a:r>
            <a:endParaRPr lang="en-US" sz="17000" spc="750" dirty="0"/>
          </a:p>
        </p:txBody>
      </p:sp>
      <p:sp>
        <p:nvSpPr>
          <p:cNvPr id="9" name="Shape 6"/>
          <p:cNvSpPr/>
          <p:nvPr/>
        </p:nvSpPr>
        <p:spPr>
          <a:xfrm>
            <a:off x="190499" y="339079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3240000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小组星光积分榜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678093"/>
            <a:ext cx="2509825" cy="82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答到 +1★｜朗读正确流利 +2★。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找到拟人句并说出理由 +3★。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>仿写一句 +2★｜书写姿势端正 +1★。</a:t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899527" y="801176"/>
            <a:ext cx="3995192" cy="994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7740"/>
              </a:lnSpc>
            </a:pPr>
            <a:r>
              <a:rPr lang="en-US" sz="5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今日星光小组</a:t>
            </a:r>
            <a:endParaRPr lang="en-US" sz="540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EA355BD4-EC1C-F621-6857-73EFEE145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3" name="Text 0">
            <a:extLst>
              <a:ext uri="{FF2B5EF4-FFF2-40B4-BE49-F238E27FC236}">
                <a16:creationId id="{7172675C-C9F8-DD6D-7717-2F6718E6F55D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花的学校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4">
            <a:extLst>
              <a:ext uri="{FF2B5EF4-FFF2-40B4-BE49-F238E27FC236}">
                <a16:creationId id="{19D77549-3D44-5DA0-7EA5-FC5590B5E89E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Text 2">
            <a:extLst>
              <a:ext uri="{FF2B5EF4-FFF2-40B4-BE49-F238E27FC236}">
                <a16:creationId id="{86FE76CB-7C3B-40B1-CE90-7EDB2D6A869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/>
          <p:cNvSpPr/>
          <p:nvPr/>
        </p:nvSpPr>
        <p:spPr>
          <a:xfrm>
            <a:off x="190499" y="1300328"/>
            <a:ext cx="9620746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生字闯关 · 三类提醒</a:t>
            </a:r>
            <a:endParaRPr lang="en-US" sz="3600" dirty="0"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9049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19049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读准音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9049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落 luò、荒 huāng、笛 dí、舞 wǔ、狂 kuáng。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多音字：假 jiǎ（真假）／jià（放假），读错要纠正。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333733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333733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</a:rPr>
              <a:t>认清形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333733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「舞」中间四竖别少写；「荒」中间是「亡」。</a:t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「罚」上边是「罒」，下边是「讠」加「刂」。</a:t>
            </a:r>
            <a:endParaRPr lang="en-US" sz="900" dirty="0">
              <a:solidFill>
                <a:srgbClr val="878787">
                  <a:alpha val="100000"/>
                </a:srgbClr>
              </a:solidFill>
              <a:latin typeface="MiSans" pitchFamily="2" charset="-122"/>
              <a:ea typeface="MiSans" pitchFamily="2" charset="-122"/>
              <a:cs typeface="Inter Regular" pitchFamily="34" charset="-12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2757463"/>
            <a:ext cx="2471725" cy="1085709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2757463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理解义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3195556"/>
            <a:ext cx="2509825" cy="32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荒野：荒凉的野外。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狂欢：纵情地欢乐。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簌簌：风吹树叶发出的声音。</a:t>
            </a:r>
            <a:endParaRPr lang="en-US" sz="8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19" name="Image 0" descr=" ">
            <a:extLst>
              <a:ext uri="{FF2B5EF4-FFF2-40B4-BE49-F238E27FC236}">
                <a16:creationId id="{B72FDC39-100A-C441-8DF2-05BCE0302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CFE7A759-6320-9078-AEE0-6FA22B7FA046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花的学校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252F447D-3BA7-DB58-36FC-4D76EFA402D0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638B2967-CA12-DA2E-F418-120646CC70D6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02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id="{5FC5D7DE-DF26-2411-FE41-89CAB4886B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 b="29474"/>
          <a:stretch>
            <a:fillRect/>
          </a:stretch>
        </p:blipFill>
        <p:spPr>
          <a:xfrm>
            <a:off x="48" y="335"/>
            <a:ext cx="9143952" cy="514283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id="{C284F5EC-F7E0-97BE-65F8-155C4A76486C}"/>
              </a:ext>
            </a:extLst>
          </p:cNvPr>
          <p:cNvSpPr/>
          <p:nvPr/>
        </p:nvSpPr>
        <p:spPr>
          <a:xfrm>
            <a:off x="0" y="0"/>
            <a:ext cx="9143952" cy="5143165"/>
          </a:xfrm>
          <a:prstGeom prst="rect">
            <a:avLst/>
          </a:prstGeom>
          <a:solidFill>
            <a:schemeClr val="bg2">
              <a:lumMod val="50000"/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90499" y="190810"/>
            <a:ext cx="10035362" cy="1253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幸运大转盘</a:t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  <a:r>
              <a:rPr lang="en-US" altLang="zh-CN" sz="36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/>
            </a:r>
            <a:endParaRPr lang="en-US" altLang="zh-CN" sz="3600" dirty="0"/>
          </a:p>
        </p:txBody>
      </p:sp>
      <p:sp>
        <p:nvSpPr>
          <p:cNvPr id="9" name="Shape 6"/>
          <p:cNvSpPr/>
          <p:nvPr/>
        </p:nvSpPr>
        <p:spPr>
          <a:xfrm>
            <a:off x="3629006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0" name="Text 7"/>
          <p:cNvSpPr/>
          <p:nvPr/>
        </p:nvSpPr>
        <p:spPr>
          <a:xfrm>
            <a:off x="3629007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629006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1、2 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3629006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3" name="Text 10"/>
          <p:cNvSpPr/>
          <p:nvPr/>
        </p:nvSpPr>
        <p:spPr>
          <a:xfrm>
            <a:off x="3629007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29006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3、4 节</a:t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481729" y="1647945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6" name="Text 13"/>
          <p:cNvSpPr/>
          <p:nvPr/>
        </p:nvSpPr>
        <p:spPr>
          <a:xfrm>
            <a:off x="6481729" y="1647945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endParaRPr lang="en-US" sz="2250" b="1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481729" y="2086038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5 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481729" y="2600321"/>
            <a:ext cx="2471725" cy="76190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19" name="Text 16"/>
          <p:cNvSpPr/>
          <p:nvPr/>
        </p:nvSpPr>
        <p:spPr>
          <a:xfrm>
            <a:off x="6481729" y="2600321"/>
            <a:ext cx="256697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b="1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第  组</a:t>
            </a: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/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481729" y="3038414"/>
            <a:ext cx="2509825" cy="154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朗读第 6 节</a:t>
            </a:r>
            <a:r>
              <a:rPr lang="en-US" altLang="zh-CN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/>
            </a:r>
            <a:endParaRPr lang="en-US" sz="900" dirty="0">
              <a:latin typeface="MiSans" pitchFamily="2" charset="-122"/>
              <a:ea typeface="MiSans" pitchFamily="2" charset="-122"/>
            </a:endParaRPr>
          </a:p>
        </p:txBody>
      </p:sp>
      <p:pic>
        <p:nvPicPr>
          <p:cNvPr id="24" name="Image 0" descr=" ">
            <a:extLst>
              <a:ext uri="{FF2B5EF4-FFF2-40B4-BE49-F238E27FC236}">
                <a16:creationId id="{EEE1F9B6-D086-F301-B93E-262A9BEF0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2" name="Text 0">
            <a:extLst>
              <a:ext uri="{FF2B5EF4-FFF2-40B4-BE49-F238E27FC236}">
                <a16:creationId id="{24FA1DED-ECE7-8538-A605-CAF63E8EB6CB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花的学校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Text 4">
            <a:extLst>
              <a:ext uri="{FF2B5EF4-FFF2-40B4-BE49-F238E27FC236}">
                <a16:creationId id="{9CD5E74A-1997-7846-A7E2-C6E166D64383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转到谁，谁朗读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Text 2">
            <a:extLst>
              <a:ext uri="{FF2B5EF4-FFF2-40B4-BE49-F238E27FC236}">
                <a16:creationId id="{BB1C20ED-1A57-0F1D-5DAB-DE471496AAC9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7226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3" name="Text 1"/>
          <p:cNvSpPr/>
          <p:nvPr/>
        </p:nvSpPr>
        <p:spPr>
          <a:xfrm>
            <a:off x="4667226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基础作业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67226" y="3666982"/>
            <a:ext cx="2085964" cy="1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260"/>
              </a:lnSpc>
            </a:pPr>
            <a:r>
              <a:rPr lang="zh-CN" altLang="en-US" sz="8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抄写本课生字，每字 2 遍；背诵喜欢的小节。</a:t>
            </a:r>
          </a:p>
        </p:txBody>
      </p:sp>
      <p:sp>
        <p:nvSpPr>
          <p:cNvPr id="5" name="Shape 3"/>
          <p:cNvSpPr/>
          <p:nvPr/>
        </p:nvSpPr>
        <p:spPr>
          <a:xfrm>
            <a:off x="6905590" y="2524131"/>
            <a:ext cx="2047864" cy="1952371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 sz="253"/>
          </a:p>
        </p:txBody>
      </p:sp>
      <p:sp>
        <p:nvSpPr>
          <p:cNvPr id="6" name="Text 4"/>
          <p:cNvSpPr/>
          <p:nvPr/>
        </p:nvSpPr>
        <p:spPr>
          <a:xfrm>
            <a:off x="6905589" y="2524131"/>
            <a:ext cx="2143114" cy="438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00"/>
              </a:lnSpc>
            </a:pPr>
            <a:r>
              <a:rPr lang="zh-CN" altLang="en-US" sz="2250" dirty="0">
                <a:solidFill>
                  <a:srgbClr val="242424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Medium" pitchFamily="34" charset="-120"/>
              </a:rPr>
              <a:t>挑战作业</a:t>
            </a:r>
            <a:endParaRPr lang="en-US" sz="2250" dirty="0">
              <a:latin typeface="MiSans" pitchFamily="2" charset="-122"/>
              <a:ea typeface="MiSans" pitchFamily="2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6905589" y="3666982"/>
            <a:ext cx="2085964" cy="3225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60"/>
              </a:lnSpc>
            </a:pPr>
            <a:r>
              <a:rPr lang="zh-CN" altLang="en-US" sz="900" dirty="0">
                <a:solidFill>
                  <a:srgbClr val="878787">
                    <a:alpha val="100000"/>
                  </a:srgbClr>
                </a:solidFill>
                <a:latin typeface="MiSans" pitchFamily="2" charset="-122"/>
                <a:ea typeface="MiSans" pitchFamily="2" charset="-122"/>
                <a:cs typeface="Inter Regular" pitchFamily="34" charset="-120"/>
              </a:rPr>
              <a:t>仿写《增城的花学校》：清风一吹，他们便……蝴蝶一来，他们便……</a:t>
            </a:r>
          </a:p>
        </p:txBody>
      </p:sp>
      <p:sp>
        <p:nvSpPr>
          <p:cNvPr id="8" name="Text 6"/>
          <p:cNvSpPr/>
          <p:nvPr/>
        </p:nvSpPr>
        <p:spPr>
          <a:xfrm>
            <a:off x="190499" y="381285"/>
            <a:ext cx="3927752" cy="2234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242424">
                    <a:alpha val="100000"/>
                  </a:srgb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作业与延伸</a:t>
            </a:r>
          </a:p>
          <a:p>
            <a:pPr>
              <a:lnSpc>
                <a:spcPts val="7740"/>
              </a:lnSpc>
            </a:pPr>
            <a:r>
              <a:rPr lang="en-US" sz="6450" dirty="0"/>
              <a:t/>
            </a:r>
            <a:endParaRPr lang="en-US" sz="6450" dirty="0"/>
          </a:p>
        </p:txBody>
      </p:sp>
      <p:pic>
        <p:nvPicPr>
          <p:cNvPr id="16" name="Image 0" descr=" ">
            <a:extLst>
              <a:ext uri="{FF2B5EF4-FFF2-40B4-BE49-F238E27FC236}">
                <a16:creationId id="{DCE83B11-A9A6-EB13-3AC3-4570988397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66977"/>
            <a:ext cx="9143952" cy="476188"/>
          </a:xfrm>
          <a:prstGeom prst="rect">
            <a:avLst/>
          </a:prstGeom>
          <a:ln>
            <a:noFill/>
          </a:ln>
        </p:spPr>
      </p:pic>
      <p:sp>
        <p:nvSpPr>
          <p:cNvPr id="12" name="Text 0">
            <a:extLst>
              <a:ext uri="{FF2B5EF4-FFF2-40B4-BE49-F238E27FC236}">
                <a16:creationId id="{126D2891-2CF4-699C-2591-73ACD219C6B7}"/>
              </a:ext>
            </a:extLst>
          </p:cNvPr>
          <p:cNvSpPr/>
          <p:nvPr/>
        </p:nvSpPr>
        <p:spPr>
          <a:xfrm>
            <a:off x="285749" y="4852691"/>
            <a:ext cx="1390814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花的学校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Text 4">
            <a:extLst>
              <a:ext uri="{FF2B5EF4-FFF2-40B4-BE49-F238E27FC236}">
                <a16:creationId id="{63EC4AAA-95DE-FFF6-B4AB-9B90478014FB}"/>
              </a:ext>
            </a:extLst>
          </p:cNvPr>
          <p:cNvSpPr/>
          <p:nvPr/>
        </p:nvSpPr>
        <p:spPr>
          <a:xfrm>
            <a:off x="7231025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统编版三上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Text 2">
            <a:extLst>
              <a:ext uri="{FF2B5EF4-FFF2-40B4-BE49-F238E27FC236}">
                <a16:creationId id="{DF4FBA21-7955-A7E5-344D-D2F59DA1F9AE}"/>
              </a:ext>
            </a:extLst>
          </p:cNvPr>
          <p:cNvSpPr/>
          <p:nvPr/>
        </p:nvSpPr>
        <p:spPr>
          <a:xfrm>
            <a:off x="3428982" y="4852691"/>
            <a:ext cx="1644642" cy="10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rgbClr val="242424">
                    <a:alpha val="100000"/>
                  </a:srgb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03</a:t>
            </a:r>
            <a:endParaRPr lang="en-US" sz="825" b="1" dirty="0">
              <a:latin typeface="MiSans Normal" pitchFamily="2" charset="-122"/>
              <a:ea typeface="MiSans Normal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5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id="{FAD12A75-EDA9-4E1C-2E63-50343E0C61A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-106" b="8918"/>
          <a:stretch>
            <a:fillRect/>
          </a:stretch>
        </p:blipFill>
        <p:spPr>
          <a:xfrm>
            <a:off x="0" y="0"/>
            <a:ext cx="9143952" cy="5148791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id="{C8BBF3F4-27EF-34C3-9D32-B8146775036D}"/>
              </a:ext>
            </a:extLst>
          </p:cNvPr>
          <p:cNvSpPr/>
          <p:nvPr/>
        </p:nvSpPr>
        <p:spPr>
          <a:xfrm>
            <a:off x="0" y="0"/>
            <a:ext cx="9143952" cy="5148791"/>
          </a:xfrm>
          <a:prstGeom prst="rect">
            <a:avLst/>
          </a:prstGeom>
          <a:solidFill>
            <a:schemeClr val="bg2">
              <a:lumMod val="7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 0">
            <a:extLst>
              <a:ext uri="{FF2B5EF4-FFF2-40B4-BE49-F238E27FC236}">
                <a16:creationId id="{95623774-1D7F-DA20-1D0F-7E88E7CD5A5F}"/>
              </a:ext>
            </a:extLst>
          </p:cNvPr>
          <p:cNvSpPr/>
          <p:nvPr/>
        </p:nvSpPr>
        <p:spPr>
          <a:xfrm>
            <a:off x="285749" y="186048"/>
            <a:ext cx="1390814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花的学校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Text 4">
            <a:extLst>
              <a:ext uri="{FF2B5EF4-FFF2-40B4-BE49-F238E27FC236}">
                <a16:creationId id="{294BD212-8331-B23B-370A-C460AECB3010}"/>
              </a:ext>
            </a:extLst>
          </p:cNvPr>
          <p:cNvSpPr/>
          <p:nvPr/>
        </p:nvSpPr>
        <p:spPr>
          <a:xfrm>
            <a:off x="7231025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第一单元 · 第2课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Text 2">
            <a:extLst>
              <a:ext uri="{FF2B5EF4-FFF2-40B4-BE49-F238E27FC236}">
                <a16:creationId id="{EB039B88-978D-0AF5-D59A-E0881645B11D}"/>
              </a:ext>
            </a:extLst>
          </p:cNvPr>
          <p:cNvSpPr/>
          <p:nvPr/>
        </p:nvSpPr>
        <p:spPr>
          <a:xfrm>
            <a:off x="3428982" y="186048"/>
            <a:ext cx="1644642" cy="139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825"/>
              </a:lnSpc>
            </a:pPr>
            <a:r>
              <a:rPr lang="en-US" altLang="zh-CN" sz="825" b="1" dirty="0">
                <a:solidFill>
                  <a:schemeClr val="accent6">
                    <a:lumMod val="75000"/>
                  </a:schemeClr>
                </a:solidFill>
                <a:latin typeface="MiSans Normal" pitchFamily="2" charset="-122"/>
                <a:ea typeface="MiSans Normal" pitchFamily="2" charset="-122"/>
                <a:cs typeface="Plus Jakarta Sans Regular" pitchFamily="34" charset="-120"/>
              </a:rPr>
              <a:t>下课啦</a:t>
            </a:r>
            <a:endParaRPr lang="en-US" sz="825" b="1" dirty="0">
              <a:solidFill>
                <a:schemeClr val="accent6">
                  <a:lumMod val="7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980546" y="1873341"/>
            <a:ext cx="7182861" cy="1873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altLang="zh-CN" sz="31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记得把今天找到的拟人句抄进积累本。</a:t>
            </a:r>
            <a:r>
              <a:rPr lang="en-US" sz="3150" dirty="0">
                <a:solidFill>
                  <a:schemeClr val="accent6">
                    <a:lumMod val="75000"/>
                  </a:schemeClr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/>
            </a:r>
          </a:p>
          <a:p>
            <a:pPr algn="ctr"/>
            <a:r>
              <a:rPr lang="en-US" sz="31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</a:rPr>
              <a:t>下课前，用一句话说说花孩子是个怎样的孩子。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02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初读识字 · 读通课文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a16="http://schemas.microsoft.com/office/drawing/2014/main" xmlns:p="http://schemas.openxmlformats.org/presentationml/2006/main" xmlns:r="http://schemas.openxmlformats.org/officeDocument/2006/relationships">
  <p:cSld name="Slide 22">
    <p:bg>
      <p:bgPr>
        <a:solidFill>
          <a:srgbClr val="EEF7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id="{E0288ED9-8C1A-5C02-5448-E207F68FE6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b="626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6879740" y="571761"/>
            <a:ext cx="1801744" cy="4039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500"/>
              </a:lnSpc>
            </a:pPr>
            <a:r>
              <a:rPr lang="en-US" sz="10500" dirty="0">
                <a:solidFill>
                  <a:schemeClr val="accent6">
                    <a:lumMod val="40000"/>
                    <a:lumOff val="60000"/>
                  </a:schemeClr>
                </a:solidFill>
                <a:latin typeface="MiSans Demibold" pitchFamily="2" charset="-122"/>
                <a:ea typeface="MiSans Demibold" pitchFamily="2" charset="-122"/>
                <a:cs typeface="Inter Light" pitchFamily="34" charset="-120"/>
              </a:rPr>
              <a:t>03</a:t>
            </a:r>
            <a:endParaRPr lang="en-US" sz="10500" dirty="0">
              <a:solidFill>
                <a:schemeClr val="accent6">
                  <a:lumMod val="40000"/>
                  <a:lumOff val="60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190499" y="2081276"/>
            <a:ext cx="5178616" cy="987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7740"/>
              </a:lnSpc>
            </a:pPr>
            <a:r>
              <a:rPr lang="en-US" altLang="zh-CN" sz="6450" dirty="0">
                <a:solidFill>
                  <a:srgbClr val="B2D699"/>
                </a:solidFill>
                <a:latin typeface="MiSans Demibold" pitchFamily="2" charset="-122"/>
                <a:ea typeface="MiSans Demibold" pitchFamily="2" charset="-122"/>
                <a:cs typeface="Inter Medium" pitchFamily="34" charset="-120"/>
              </a:rPr>
              <a:t>品读感悟 · 积累语言</a:t>
            </a:r>
            <a:endParaRPr lang="en-US" sz="6450" dirty="0">
              <a:solidFill>
                <a:srgbClr val="B2D699"/>
              </a:solidFill>
              <a:latin typeface="MiSans Demibold" pitchFamily="2" charset="-122"/>
              <a:ea typeface="MiSans Demibold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438</TotalTime>
  <Words>1291</Words>
  <Application>Microsoft Macintosh PowerPoint</Application>
  <PresentationFormat>全屏显示(16:9)</PresentationFormat>
  <Paragraphs>176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Calibri</vt:lpstr>
      <vt:lpstr>MiSans</vt:lpstr>
      <vt:lpstr>MiSans Demibold</vt:lpstr>
      <vt:lpstr>Inter Medium</vt:lpstr>
      <vt:lpstr>MiSans Normal</vt:lpstr>
      <vt:lpstr>Arial</vt:lpstr>
      <vt:lpstr>Calibri Light</vt:lpstr>
      <vt:lpstr>Office 2013 - 2022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Blurlayer Presentation</dc:title>
  <dc:subject>PptxGenJS Presentation</dc:subject>
  <dc:creator>Blurlayer</dc:creator>
  <cp:lastModifiedBy>T204597</cp:lastModifiedBy>
  <cp:revision>22</cp:revision>
  <dcterms:created xsi:type="dcterms:W3CDTF">2025-06-25T03:30:32Z</dcterms:created>
  <dcterms:modified xsi:type="dcterms:W3CDTF">2026-07-17T06:36:59Z</dcterms:modified>
</cp:coreProperties>
</file>