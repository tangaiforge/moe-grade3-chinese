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24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embedTrueTypeFonts="1" autoCompressPictures="0">
  <p:sldMasterIdLst>
    <p:sldMasterId id="2147483650" r:id="rId1"/>
  </p:sldMasterIdLst>
  <p:notesMasterIdLst>
    <p:notesMasterId r:id="rId23"/>
  </p:notesMasterIdLst>
  <p:sldIdLst>
    <p:sldId id="256" r:id="rId2"/>
    <p:sldId id="277" r:id="rId3"/>
    <p:sldId id="272" r:id="rId10"/>
    <p:sldId id="283" r:id="rId47"/>
    <p:sldId id="257" r:id="rId4"/>
    <p:sldId id="260" r:id="rId7"/>
    <p:sldId id="273" r:id="rId19"/>
    <p:sldId id="284" r:id="rId48"/>
    <p:sldId id="263" r:id="rId11"/>
    <p:sldId id="266" r:id="rId13"/>
    <p:sldId id="274" r:id="rId20"/>
    <p:sldId id="268" r:id="rId17"/>
    <p:sldId id="276" r:id="rId21"/>
    <p:sldId id="280" r:id="rId22"/>
  </p:sldIdLst>
  <p:sldSz cx="9144000" cy="5143500" type="screen16x9"/>
  <p:notesSz cx="13716000" cy="24387175"/>
  <p:embeddedFontLst>
    <p:embeddedFont>
      <p:font typeface="Inter Light"/>
      <p:regular r:id="rId49"/>
    </p:embeddedFont>
    <p:embeddedFont>
      <p:font typeface="Inter Medium"/>
      <p:regular r:id="rId50"/>
    </p:embeddedFont>
    <p:embeddedFont>
      <p:font typeface="Inter Regular"/>
      <p:regular r:id="rId51"/>
      <p:bold r:id="rId52"/>
    </p:embeddedFont>
    <p:embeddedFont>
      <p:font typeface="MiSans"/>
      <p:regular r:id="rId53"/>
      <p:bold r:id="rId54"/>
    </p:embeddedFont>
    <p:embeddedFont>
      <p:font typeface="MiSans Demibold"/>
      <p:regular r:id="rId55"/>
    </p:embeddedFont>
    <p:embeddedFont>
      <p:font typeface="MiSans Normal"/>
      <p:regular r:id="rId56"/>
      <p:bold r:id="rId57"/>
    </p:embeddedFont>
    <p:embeddedFont>
      <p:font typeface="Plus Jakarta Sans Regular"/>
      <p:regular r:id="rId58"/>
      <p:bold r:id="rId59"/>
    </p:embeddedFont>
  </p:embeddedFontLst>
  <p:embeddedFontLst>
    <p:embeddedFont>
      <p:font typeface="Inter Light"/>
      <p:regular r:id="rId36"/>
    </p:embeddedFont>
    <p:embeddedFont>
      <p:font typeface="Inter Medium"/>
      <p:regular r:id="rId37"/>
    </p:embeddedFont>
    <p:embeddedFont>
      <p:font typeface="Inter Regular"/>
      <p:regular r:id="rId38"/>
      <p:bold r:id="rId39"/>
    </p:embeddedFont>
    <p:embeddedFont>
      <p:font typeface="MiSans"/>
      <p:regular r:id="rId40"/>
      <p:bold r:id="rId41"/>
    </p:embeddedFont>
    <p:embeddedFont>
      <p:font typeface="MiSans Demibold"/>
      <p:regular r:id="rId42"/>
    </p:embeddedFont>
    <p:embeddedFont>
      <p:font typeface="MiSans Normal"/>
      <p:regular r:id="rId43"/>
      <p:bold r:id="rId44"/>
    </p:embeddedFont>
    <p:embeddedFont>
      <p:font typeface="Plus Jakarta Sans Regular"/>
      <p:regular r:id="rId45"/>
      <p:bold r:id="rId46"/>
    </p:embeddedFont>
  </p:embeddedFontLst>
  <p:embeddedFontLst>
    <p:embeddedFont>
      <p:font typeface="MiSans Demibold" pitchFamily="2" charset="-122"/>
      <p:regular r:id="rId24"/>
    </p:embeddedFont>
    <p:embeddedFont>
      <p:font typeface="Inter Medium" panose="02000503000000020004"/>
      <p:regular r:id="rId25"/>
      <p:bold r:id="rId26"/>
    </p:embeddedFont>
    <p:embeddedFont>
      <p:font typeface="MiSans"/>
      <p:regular r:id="rId27"/>
      <p:bold r:id="rId28"/>
    </p:embeddedFont>
    <p:embeddedFont>
      <p:font typeface="MiSans Normal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7E9"/>
    <a:srgbClr val="B2D699"/>
    <a:srgbClr val="548235"/>
    <a:srgbClr val="7CAB32"/>
    <a:srgbClr val="BBDA6F"/>
    <a:srgbClr val="CAE9F4"/>
    <a:srgbClr val="8EBD3B"/>
    <a:srgbClr val="65A755"/>
    <a:srgbClr val="3C7AA6"/>
    <a:srgbClr val="80A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font" Target="fonts/font5.fntdata"/><Relationship Id="rId41" Type="http://schemas.openxmlformats.org/officeDocument/2006/relationships/font" Target="fonts/font6.fntdata"/><Relationship Id="rId42" Type="http://schemas.openxmlformats.org/officeDocument/2006/relationships/font" Target="fonts/font7.fntdata"/><Relationship Id="rId43" Type="http://schemas.openxmlformats.org/officeDocument/2006/relationships/font" Target="fonts/font8.fntdata"/><Relationship Id="rId44" Type="http://schemas.openxmlformats.org/officeDocument/2006/relationships/font" Target="fonts/font9.fntdata"/><Relationship Id="rId45" Type="http://schemas.openxmlformats.org/officeDocument/2006/relationships/font" Target="fonts/font10.fntdata"/><Relationship Id="rId46" Type="http://schemas.openxmlformats.org/officeDocument/2006/relationships/font" Target="fonts/font11.fntdata"/><Relationship Id="rId47" Type="http://schemas.openxmlformats.org/officeDocument/2006/relationships/slide" Target="slides/slide24.xml"/><Relationship Id="rId48" Type="http://schemas.openxmlformats.org/officeDocument/2006/relationships/slide" Target="slides/slide25.xml"/><Relationship Id="rId49" Type="http://schemas.openxmlformats.org/officeDocument/2006/relationships/font" Target="fonts/font1.fntdata"/><Relationship Id="rId50" Type="http://schemas.openxmlformats.org/officeDocument/2006/relationships/font" Target="fonts/font2.fntdata"/><Relationship Id="rId51" Type="http://schemas.openxmlformats.org/officeDocument/2006/relationships/font" Target="fonts/font3.fntdata"/><Relationship Id="rId52" Type="http://schemas.openxmlformats.org/officeDocument/2006/relationships/font" Target="fonts/font4.fntdata"/><Relationship Id="rId53" Type="http://schemas.openxmlformats.org/officeDocument/2006/relationships/font" Target="fonts/font5.fntdata"/><Relationship Id="rId54" Type="http://schemas.openxmlformats.org/officeDocument/2006/relationships/font" Target="fonts/font6.fntdata"/><Relationship Id="rId55" Type="http://schemas.openxmlformats.org/officeDocument/2006/relationships/font" Target="fonts/font7.fntdata"/><Relationship Id="rId56" Type="http://schemas.openxmlformats.org/officeDocument/2006/relationships/font" Target="fonts/font8.fntdata"/><Relationship Id="rId57" Type="http://schemas.openxmlformats.org/officeDocument/2006/relationships/font" Target="fonts/font9.fntdata"/><Relationship Id="rId58" Type="http://schemas.openxmlformats.org/officeDocument/2006/relationships/font" Target="fonts/font10.fntdata"/><Relationship Id="rId59" Type="http://schemas.openxmlformats.org/officeDocument/2006/relationships/font" Target="fonts/font11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053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0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809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213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617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021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426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19983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23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封面：第二单元第 5 课《铺满金色巴掌的水泥道》。一条普通的上学路，为什么变得闪闪发光？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第一部分：课前签到，答到时说一个描写落叶的词语。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情境导入：一夜秋风秋雨后的水泥道，引出「金色的小巴掌」这个奇妙的比喻。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朗读闯关：自由朗读两遍，标自然段，同桌互读纠错。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点名签到页：点到名字大声答「到」，再说一个描写落叶的词语为本组挣一片金叶；小主播说说上学路上看到的落叶。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品读水泥道：读句子，抓「熨帖、平展」，想象落叶贴地的样子。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最关键的一页：雨靴变成小鸟，让学生体会想象让平常的路闪闪发光。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积分榜：按答到、朗读、找新鲜感、仿写、书写五项给星。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词句闯关：抓平舌音「增、棕」，形声字「铺、靴」，理解「明朗、凌乱、增添」。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幸运大转盘：转到哪一组，哪一组朗读对应的段落。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作业：基础抄写背诵；挑战仿写「增城的秋天，＿＿像＿＿」。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收束：把新鲜感词句抄进积累本，说说自己发现的秋天。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第一部分：课前签到，先让全班热起来，答到时说一个描写雨的词语，顺便复习词语积累。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第一部分：课前签到，先让全班热起来，答到时说一个描写雨的词语，顺便复习词语积累。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4479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8671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028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2644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6453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9222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5411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3223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5070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138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2512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31314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2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g_519c4949b0.jp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g_3c52e6541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9de0502125.jp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g_78ebec246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g_7522c3ee21.jpg"/><Relationship Id="rId4" Type="http://schemas.openxmlformats.org/officeDocument/2006/relationships/image" Target="../media/img_67ced267ff.jp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g_4c62a2f76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c925749a75.jp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089E8DB7-D260-FFDA-4BD9-D4529823D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732" y="0"/>
            <a:ext cx="4444268" cy="51435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id="{9FA20D1F-5B0D-CEC4-B6D4-F31A950A4324}"/>
              </a:ext>
            </a:extLst>
          </p:cNvPr>
          <p:cNvSpPr/>
          <p:nvPr/>
        </p:nvSpPr>
        <p:spPr>
          <a:xfrm>
            <a:off x="4699732" y="0"/>
            <a:ext cx="4444268" cy="5143500"/>
          </a:xfrm>
          <a:prstGeom prst="rect">
            <a:avLst/>
          </a:prstGeom>
          <a:solidFill>
            <a:schemeClr val="tx1">
              <a:lumMod val="65000"/>
              <a:lumOff val="3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4">
            <a:extLst>
              <a:ext uri="{FF2B5EF4-FFF2-40B4-BE49-F238E27FC236}">
                <a16:creationId id="{11F0FDC0-FA29-B69A-AE24-6B2CADE49CD0}"/>
              </a:ext>
            </a:extLst>
          </p:cNvPr>
          <p:cNvSpPr/>
          <p:nvPr/>
        </p:nvSpPr>
        <p:spPr>
          <a:xfrm>
            <a:off x="7248487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+mn-ea"/>
                <a:cs typeface="Plus Jakarta Sans Regular" pitchFamily="2" charset="0"/>
              </a:rPr>
              <a:t>统编版·语文三年级上册</a:t>
            </a:r>
            <a:endParaRPr lang="en-US" sz="825" b="1" dirty="0">
              <a:solidFill>
                <a:schemeClr val="bg1"/>
              </a:solidFill>
              <a:latin typeface="+mn-ea"/>
              <a:cs typeface="Plus Jakarta Sans Regular" pitchFamily="2" charset="0"/>
            </a:endParaRPr>
          </a:p>
        </p:txBody>
      </p:sp>
      <p:sp>
        <p:nvSpPr>
          <p:cNvPr id="4" name="Text 0"/>
          <p:cNvSpPr/>
          <p:nvPr/>
        </p:nvSpPr>
        <p:spPr>
          <a:xfrm>
            <a:off x="285749" y="186048"/>
            <a:ext cx="1946240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FFFFFF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广州市增城区 ＿＿ 小学</a:t>
            </a:r>
            <a:endParaRPr lang="en-US" sz="825" b="1" dirty="0"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85750" y="2381835"/>
            <a:ext cx="4158432" cy="1437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320"/>
              </a:lnSpc>
            </a:pPr>
            <a:r>
              <a:rPr lang="en-US" altLang="zh-CN" sz="3600" dirty="0">
                <a:solidFill>
                  <a:srgbClr val="FFFFFF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5 铺满金色巴掌的水泥道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285748" y="3819363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授课教师：＿＿＿＿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2">
            <a:extLst>
              <a:ext uri="{FF2B5EF4-FFF2-40B4-BE49-F238E27FC236}">
                <a16:creationId id="{C007DFB7-4839-A0F7-E833-61F57BAB2C6A}"/>
              </a:ext>
            </a:extLst>
          </p:cNvPr>
          <p:cNvSpPr/>
          <p:nvPr/>
        </p:nvSpPr>
        <p:spPr>
          <a:xfrm>
            <a:off x="3428982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三年级（  ）班</a:t>
            </a:r>
            <a:endParaRPr lang="en-US" sz="825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id="{24860387-D044-F689-DE1C-6AB48C1B4457}"/>
              </a:ext>
            </a:extLst>
          </p:cNvPr>
          <p:cNvSpPr/>
          <p:nvPr/>
        </p:nvSpPr>
        <p:spPr>
          <a:xfrm>
            <a:off x="285748" y="4059228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第二单元 · 金秋时节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01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课前签到 · 秋日发现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id="{1F830095-E384-F819-C8AA-514C4B8086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980" r="29980"/>
          <a:stretch>
            <a:fillRect/>
          </a:stretch>
        </p:blipFill>
        <p:spPr>
          <a:xfrm>
            <a:off x="190499" y="193717"/>
            <a:ext cx="3047984" cy="42856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铺满金色巴掌的水泥道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7" name="Text 4"/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428983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6"/>
          <p:cNvSpPr/>
          <p:nvPr/>
        </p:nvSpPr>
        <p:spPr>
          <a:xfrm>
            <a:off x="3428982" y="3390793"/>
            <a:ext cx="2628886" cy="31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latin typeface="MiSans" pitchFamily="2" charset="-122"/>
                <a:ea typeface="MiSans" pitchFamily="2" charset="-122"/>
                <a:cs typeface="Inter Medium" pitchFamily="34" charset="-120"/>
              </a:rPr>
              <a:t>上学路上</a:t>
            </a:r>
            <a:endParaRPr lang="en-US" sz="18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28983" y="3828886"/>
            <a:ext cx="2628886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一夜秋风，一夜秋雨，水泥道上落满了梧桐叶。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你见过的落叶是什么样的？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作者说它们像「金色的小巴掌」——你会怎么形容？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43605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9"/>
          <p:cNvSpPr/>
          <p:nvPr/>
        </p:nvSpPr>
        <p:spPr>
          <a:xfrm>
            <a:off x="6243605" y="3390793"/>
            <a:ext cx="2628886" cy="319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说一说</a:t>
            </a:r>
            <a:endParaRPr lang="en-US" sz="1800" dirty="0">
              <a:solidFill>
                <a:srgbClr val="242424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Medium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243605" y="3828886"/>
            <a:ext cx="2682348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用「落叶像＿＿」说一句话，说出你的发现。</a:t>
            </a:r>
            <a:r>
              <a:rPr lang="en-US" altLang="zh-CN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428982" y="190810"/>
            <a:ext cx="4038089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情境导入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6" name="Text 2">
            <a:extLst>
              <a:ext uri="{FF2B5EF4-FFF2-40B4-BE49-F238E27FC236}">
                <a16:creationId id="{DE6E33D4-D1C6-74EA-C04C-D1B1FB37F0C7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id="{CB139B56-34D3-9CBC-3FAA-7EE58481D7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21" b="6021"/>
          <a:stretch>
            <a:fillRect/>
          </a:stretch>
        </p:blipFill>
        <p:spPr>
          <a:xfrm>
            <a:off x="191779" y="2333656"/>
            <a:ext cx="4332571" cy="214284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id="{4D9E2F6B-57E0-685A-0C07-CCE7E2EF8B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986" b="5986"/>
          <a:stretch>
            <a:fillRect/>
          </a:stretch>
        </p:blipFill>
        <p:spPr>
          <a:xfrm>
            <a:off x="4619602" y="2333656"/>
            <a:ext cx="4333852" cy="214284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8" name="Shape 5"/>
          <p:cNvSpPr/>
          <p:nvPr/>
        </p:nvSpPr>
        <p:spPr>
          <a:xfrm>
            <a:off x="4667226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9" name="Text 6"/>
          <p:cNvSpPr/>
          <p:nvPr/>
        </p:nvSpPr>
        <p:spPr>
          <a:xfrm>
            <a:off x="4667227" y="324143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朗读闯关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67227" y="1333661"/>
            <a:ext cx="2047865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自由朗读课文，读准字音，读通句子，难读的地方多读几遍。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给自然段标上序号，想一想课文写了什么。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同桌互读，互相纠正一个读错的音。</a:t>
            </a:r>
          </a:p>
        </p:txBody>
      </p:sp>
      <p:sp>
        <p:nvSpPr>
          <p:cNvPr id="11" name="Shape 8"/>
          <p:cNvSpPr/>
          <p:nvPr/>
        </p:nvSpPr>
        <p:spPr>
          <a:xfrm>
            <a:off x="6905590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9"/>
          <p:cNvSpPr/>
          <p:nvPr/>
        </p:nvSpPr>
        <p:spPr>
          <a:xfrm>
            <a:off x="6905589" y="323257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思考题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905590" y="1333661"/>
            <a:ext cx="2047865" cy="847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那条水泥道为什么被称作「铺满金色巴掌」？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作者上学时的心情是怎样的？从哪儿看出来？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90499" y="2333656"/>
            <a:ext cx="8762954" cy="214284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7" name="Text 12"/>
          <p:cNvSpPr/>
          <p:nvPr/>
        </p:nvSpPr>
        <p:spPr>
          <a:xfrm>
            <a:off x="190499" y="190810"/>
            <a:ext cx="4286228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初读任务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A490F2CE-628C-EEF8-77B0-B70A93F0E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6" name="Text 0">
            <a:extLst>
              <a:ext uri="{FF2B5EF4-FFF2-40B4-BE49-F238E27FC236}">
                <a16:creationId id="{EC93E55B-5785-3EAF-ACBB-CA0AFA1B4F05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铺满金色巴掌的水泥道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4">
            <a:extLst>
              <a:ext uri="{FF2B5EF4-FFF2-40B4-BE49-F238E27FC236}">
                <a16:creationId id="{07FF7B6F-60E9-E4F6-2FD9-B2F419820CE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Text 2">
            <a:extLst>
              <a:ext uri="{FF2B5EF4-FFF2-40B4-BE49-F238E27FC236}">
                <a16:creationId id="{E07D558A-DD4B-8C7E-391A-8020A54BF23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已到校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91374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请举手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029055" y="4133647"/>
            <a:ext cx="2217227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今日小主播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1147948"/>
            <a:ext cx="3238483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上课啦 · 点名签到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29055" y="2290799"/>
            <a:ext cx="4566250" cy="1126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听到名字大声答「到」，再说一个描写落叶的词语。</a:t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答完到黑板上为本组贴一片金叶，四组比一比。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今日小主播：抽 1 人，说说上学路上看到的落叶。</a:t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4" name="Image 0" descr=" ">
            <a:extLst>
              <a:ext uri="{FF2B5EF4-FFF2-40B4-BE49-F238E27FC236}">
                <a16:creationId id="{47A48DB0-4C57-8CA3-9F11-FBC63287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5" name="Text 0">
            <a:extLst>
              <a:ext uri="{FF2B5EF4-FFF2-40B4-BE49-F238E27FC236}">
                <a16:creationId id="{66423CAB-3A55-325F-37A4-D7A7F11B2523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铺满金色巴掌的水泥道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83A224D0-AD08-46D2-E7B7-F3A56562777C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第1课时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2A670673-EDD2-F7F0-6AF4-229BBBFAA8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01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id="{8FC68798-DB23-F2E0-5A5B-9AB99B9140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46" b="14246"/>
          <a:stretch>
            <a:fillRect/>
          </a:stretch>
        </p:blipFill>
        <p:spPr>
          <a:xfrm>
            <a:off x="5977025" y="3278030"/>
            <a:ext cx="2976428" cy="11984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id="{05519FCD-2BD1-E32B-460B-C3A44B05E1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118" b="14118"/>
          <a:stretch>
            <a:fillRect/>
          </a:stretch>
        </p:blipFill>
        <p:spPr>
          <a:xfrm>
            <a:off x="2909870" y="3278031"/>
            <a:ext cx="2974166" cy="119847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id="{D91806F6-EFB1-67F1-2900-9466C5E485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52" b="5752"/>
          <a:stretch>
            <a:fillRect/>
          </a:stretch>
        </p:blipFill>
        <p:spPr>
          <a:xfrm>
            <a:off x="2909872" y="190810"/>
            <a:ext cx="6043581" cy="30063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09873" y="190810"/>
            <a:ext cx="6043581" cy="4285692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Shape 6"/>
          <p:cNvSpPr/>
          <p:nvPr/>
        </p:nvSpPr>
        <p:spPr>
          <a:xfrm>
            <a:off x="2909873" y="2381275"/>
            <a:ext cx="6043581" cy="2095227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7"/>
          <p:cNvSpPr/>
          <p:nvPr/>
        </p:nvSpPr>
        <p:spPr>
          <a:xfrm>
            <a:off x="190499" y="190810"/>
            <a:ext cx="2471724" cy="130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水泥道</a:t>
            </a:r>
          </a:p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5" name="Text 9"/>
          <p:cNvSpPr/>
          <p:nvPr/>
        </p:nvSpPr>
        <p:spPr>
          <a:xfrm>
            <a:off x="190499" y="339079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读一读，想象画面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90499" y="3828886"/>
            <a:ext cx="2566974" cy="68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每一片法国梧桐树的落叶，都像一个金色的小巴掌，熨帖地、平展地粘在湿漉漉的水泥道上。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「熨帖」「平展」写出了落叶贴在地上的样子。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一夜秋风秋雨之后，上学路变成了一幅画。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B39A61FF-4594-BA76-36C1-51BC74E0E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D65B94E5-7AC1-F28E-7B68-7B3313B4AD7E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铺满金色巴掌的水泥道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BED90D52-2D89-9DC6-2B30-70A9E6CA1EF4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0085A05-991F-7019-B415-F7C9AB4E144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id="{4C0A8FBE-418C-8853-EA33-C0853C58E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07" b="7807"/>
          <a:stretch>
            <a:fillRect/>
          </a:stretch>
        </p:blipFill>
        <p:spPr>
          <a:xfrm>
            <a:off x="190499" y="2757464"/>
            <a:ext cx="3619481" cy="171928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id="{2371A694-7975-EB79-592F-5BDECC6B44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82" b="6082"/>
          <a:stretch>
            <a:fillRect/>
          </a:stretch>
        </p:blipFill>
        <p:spPr>
          <a:xfrm>
            <a:off x="3894048" y="190810"/>
            <a:ext cx="5097551" cy="251675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251303" y="3128890"/>
            <a:ext cx="4448050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品读时刻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7" name="Shape 2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1" name="Shape 6"/>
          <p:cNvSpPr/>
          <p:nvPr/>
        </p:nvSpPr>
        <p:spPr>
          <a:xfrm>
            <a:off x="190499" y="190810"/>
            <a:ext cx="3524232" cy="2380940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7"/>
          <p:cNvSpPr/>
          <p:nvPr/>
        </p:nvSpPr>
        <p:spPr>
          <a:xfrm>
            <a:off x="190499" y="190810"/>
            <a:ext cx="3619481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有新鲜感的词句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90499" y="1719263"/>
            <a:ext cx="3562331" cy="988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我穿着一双棕红色的小雨靴。你瞧，这多像两只棕红色的小鸟，在秋天金黄的叶丛间，愉快地蹦跳着、歌唱着……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新鲜在哪：把雨靴写成小鸟，走路变成了「蹦跳着、歌唱着」。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平常的上学路，因为想象而闪闪发光。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3878439D-C8C2-812B-B888-8B1014875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5A8EB87F-B186-655F-5ABD-F8103F97F918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铺满金色巴掌的水泥道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88643130-6C5F-001D-A5E9-705F6DF34518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B27CD63E-560B-AB04-5DE7-E92E5D29FDF2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id="{EF93D6B1-C1D5-8FDA-B9C7-202A86FF04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b="19688"/>
          <a:stretch>
            <a:fillRect/>
          </a:stretch>
        </p:blipFill>
        <p:spPr>
          <a:xfrm>
            <a:off x="0" y="335"/>
            <a:ext cx="9143952" cy="514283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id="{2A395852-B497-E09E-B7EA-AFBA766BD754}"/>
              </a:ext>
            </a:extLst>
          </p:cNvPr>
          <p:cNvSpPr/>
          <p:nvPr/>
        </p:nvSpPr>
        <p:spPr>
          <a:xfrm>
            <a:off x="48" y="-1"/>
            <a:ext cx="9143952" cy="514316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id="{3BDAEA4F-BD9D-CAA7-0788-1EFBEC6C9131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2945293" y="1879080"/>
            <a:ext cx="6389110" cy="2787898"/>
          </a:xfrm>
          <a:prstGeom prst="rect">
            <a:avLst/>
          </a:prstGeom>
          <a:noFill/>
          <a:ln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22500"/>
              </a:lnSpc>
            </a:pPr>
            <a:r>
              <a:rPr lang="en-US" sz="17000" spc="75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5★</a:t>
            </a:r>
            <a:endParaRPr lang="en-US" sz="17000" spc="750" dirty="0"/>
          </a:p>
        </p:txBody>
      </p:sp>
      <p:sp>
        <p:nvSpPr>
          <p:cNvPr id="9" name="Shape 6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3240000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小组星光积分榜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678093"/>
            <a:ext cx="2509825" cy="82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答到 +1★｜朗读正确流利 +2★。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找到新鲜感词句并说清理由 +3★。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仿写一句 +2★｜书写姿势端正 +1★。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99527" y="801176"/>
            <a:ext cx="3995192" cy="994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7740"/>
              </a:lnSpc>
            </a:pPr>
            <a:r>
              <a:rPr lang="en-US" sz="54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今日星光小组</a:t>
            </a:r>
            <a:endParaRPr lang="en-US" sz="540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EA355BD4-EC1C-F621-6857-73EFEE145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7172675C-C9F8-DD6D-7717-2F6718E6F55D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铺满金色巴掌的水泥道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19D77549-3D44-5DA0-7EA5-FC5590B5E89E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86FE76CB-7C3B-40B1-CE90-7EDB2D6A869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1300328"/>
            <a:ext cx="9620746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03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9049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品读感悟 · 积累语言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词句闯关 · 三类提醒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8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33733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333733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读准音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333733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铺 pū、靴 xuē、增 zēng、棕 zōng、凌 luàn、洼 wā。</a:t>
            </a:r>
            <a:endParaRPr lang="en-US" sz="8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「增」「棕」都是平舌音，读错要纠正。</a:t>
            </a:r>
            <a:endParaRPr lang="en-US" sz="8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认清形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「铺」是金字旁，这里是铺开的意思。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「靴」是革字旁，与皮革有关。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8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B72FDC39-100A-C441-8DF2-05BCE0302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CFE7A759-6320-9078-AEE0-6FA22B7FA046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理解义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252F447D-3BA7-DB58-36FC-4D76EFA402D0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明朗：光线充足、明亮。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凌乱：不整齐、没有秩序。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增添：增加、添加。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38B2967-CA12-DA2E-F418-120646CC70D6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铺满金色巴掌的水泥道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id="{5FC5D7DE-DF26-2411-FE41-89CAB4886B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b="29474"/>
          <a:stretch>
            <a:fillRect/>
          </a:stretch>
        </p:blipFill>
        <p:spPr>
          <a:xfrm>
            <a:off x="48" y="335"/>
            <a:ext cx="9143952" cy="514283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id="{C284F5EC-F7E0-97BE-65F8-155C4A76486C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90499" y="190810"/>
            <a:ext cx="10035362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幸运大转盘</a:t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/>
            </a:r>
            <a:endParaRPr lang="en-US" altLang="zh-CN" sz="3600" dirty="0"/>
          </a:p>
        </p:txBody>
      </p:sp>
      <p:sp>
        <p:nvSpPr>
          <p:cNvPr id="9" name="Shape 6"/>
          <p:cNvSpPr/>
          <p:nvPr/>
        </p:nvSpPr>
        <p:spPr>
          <a:xfrm>
            <a:off x="3629006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3629007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29006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朗读第 1—4 段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29006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629007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29006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朗读第 5—7 段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朗读第 8—10 段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481729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9" name="Text 16"/>
          <p:cNvSpPr/>
          <p:nvPr/>
        </p:nvSpPr>
        <p:spPr>
          <a:xfrm>
            <a:off x="6481729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/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81729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朗读第 11 段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4" name="Image 0" descr=" ">
            <a:extLst>
              <a:ext uri="{FF2B5EF4-FFF2-40B4-BE49-F238E27FC236}">
                <a16:creationId id="{EEE1F9B6-D086-F301-B93E-262A9BEF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24FA1DED-ECE7-8538-A605-CAF63E8EB6CB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铺满金色巴掌的水泥道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9CD5E74A-1997-7846-A7E2-C6E166D64383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转到谁，谁朗读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BB1C20ED-1A57-0F1D-5DAB-DE471496AAC9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7226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3" name="Text 1"/>
          <p:cNvSpPr/>
          <p:nvPr/>
        </p:nvSpPr>
        <p:spPr>
          <a:xfrm>
            <a:off x="4667226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基础作业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67226" y="3666982"/>
            <a:ext cx="2085964" cy="155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抄写本课生字，每字 2 遍；背诵喜欢的段落。</a:t>
            </a:r>
          </a:p>
        </p:txBody>
      </p:sp>
      <p:sp>
        <p:nvSpPr>
          <p:cNvPr id="5" name="Shape 3"/>
          <p:cNvSpPr/>
          <p:nvPr/>
        </p:nvSpPr>
        <p:spPr>
          <a:xfrm>
            <a:off x="6905590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6" name="Text 4"/>
          <p:cNvSpPr/>
          <p:nvPr/>
        </p:nvSpPr>
        <p:spPr>
          <a:xfrm>
            <a:off x="6905589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挑战作业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05589" y="3666982"/>
            <a:ext cx="2085964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仿写：增城的秋天，＿＿像＿＿。写 2—3 句，写出上学路上的发现。</a:t>
            </a:r>
          </a:p>
        </p:txBody>
      </p:sp>
      <p:sp>
        <p:nvSpPr>
          <p:cNvPr id="8" name="Text 6"/>
          <p:cNvSpPr/>
          <p:nvPr/>
        </p:nvSpPr>
        <p:spPr>
          <a:xfrm>
            <a:off x="190499" y="381285"/>
            <a:ext cx="3927752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作业与延伸</a:t>
            </a:r>
          </a:p>
          <a:p>
            <a:pPr>
              <a:lnSpc>
                <a:spcPts val="7740"/>
              </a:lnSpc>
            </a:pPr>
            <a:r>
              <a:rPr lang="en-US" sz="6450" dirty="0"/>
              <a:t/>
            </a:r>
            <a:endParaRPr lang="en-US" sz="645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DCE83B11-A9A6-EB13-3AC3-457098839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12" name="Text 0">
            <a:extLst>
              <a:ext uri="{FF2B5EF4-FFF2-40B4-BE49-F238E27FC236}">
                <a16:creationId id="{126D2891-2CF4-699C-2591-73ACD219C6B7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铺满金色巴掌的水泥道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Text 4">
            <a:extLst>
              <a:ext uri="{FF2B5EF4-FFF2-40B4-BE49-F238E27FC236}">
                <a16:creationId id="{63EC4AAA-95DE-FFF6-B4AB-9B90478014F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Text 2">
            <a:extLst>
              <a:ext uri="{FF2B5EF4-FFF2-40B4-BE49-F238E27FC236}">
                <a16:creationId id="{DF4FBA21-7955-A7E5-344D-D2F59DA1F9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5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id="{FAD12A75-EDA9-4E1C-2E63-50343E0C61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-106" b="8918"/>
          <a:stretch>
            <a:fillRect/>
          </a:stretch>
        </p:blipFill>
        <p:spPr>
          <a:xfrm>
            <a:off x="0" y="0"/>
            <a:ext cx="9143952" cy="514879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id="{C8BBF3F4-27EF-34C3-9D32-B8146775036D}"/>
              </a:ext>
            </a:extLst>
          </p:cNvPr>
          <p:cNvSpPr/>
          <p:nvPr/>
        </p:nvSpPr>
        <p:spPr>
          <a:xfrm>
            <a:off x="0" y="0"/>
            <a:ext cx="9143952" cy="5148791"/>
          </a:xfrm>
          <a:prstGeom prst="rect">
            <a:avLst/>
          </a:prstGeom>
          <a:solidFill>
            <a:schemeClr val="bg2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0">
            <a:extLst>
              <a:ext uri="{FF2B5EF4-FFF2-40B4-BE49-F238E27FC236}">
                <a16:creationId id="{95623774-1D7F-DA20-1D0F-7E88E7CD5A5F}"/>
              </a:ext>
            </a:extLst>
          </p:cNvPr>
          <p:cNvSpPr/>
          <p:nvPr/>
        </p:nvSpPr>
        <p:spPr>
          <a:xfrm>
            <a:off x="285749" y="186048"/>
            <a:ext cx="1390814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铺满金色巴掌的水泥道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294BD212-8331-B23B-370A-C460AECB3010}"/>
              </a:ext>
            </a:extLst>
          </p:cNvPr>
          <p:cNvSpPr/>
          <p:nvPr/>
        </p:nvSpPr>
        <p:spPr>
          <a:xfrm>
            <a:off x="7231025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第二单元 · 第5课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EB039B88-978D-0AF5-D59A-E0881645B11D}"/>
              </a:ext>
            </a:extLst>
          </p:cNvPr>
          <p:cNvSpPr/>
          <p:nvPr/>
        </p:nvSpPr>
        <p:spPr>
          <a:xfrm>
            <a:off x="3428982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下课啦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980546" y="1873341"/>
            <a:ext cx="7182861" cy="1873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altLang="zh-CN" sz="315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记得把今天找到的「新鲜感词句」抄进积累本。</a:t>
            </a:r>
            <a:r>
              <a:rPr lang="en-US" sz="315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</a:p>
          <a:p>
            <a:pPr algn="ctr"/>
            <a:r>
              <a:rPr lang="en-US" sz="31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</a:rPr>
              <a:t>下课前，用一句话说说你发现的秋天。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02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初读识字 · 读通课文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统编版三上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02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438</TotalTime>
  <Words>1291</Words>
  <Application>Microsoft Macintosh PowerPoint</Application>
  <PresentationFormat>全屏显示(16:9)</PresentationFormat>
  <Paragraphs>176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Calibri</vt:lpstr>
      <vt:lpstr>MiSans</vt:lpstr>
      <vt:lpstr>MiSans Demibold</vt:lpstr>
      <vt:lpstr>Inter Medium</vt:lpstr>
      <vt:lpstr>MiSans Normal</vt:lpstr>
      <vt:lpstr>Arial</vt:lpstr>
      <vt:lpstr>Calibri Light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Blurlayer Presentation</dc:title>
  <dc:subject>PptxGenJS Presentation</dc:subject>
  <dc:creator>Blurlayer</dc:creator>
  <cp:lastModifiedBy>T204597</cp:lastModifiedBy>
  <cp:revision>22</cp:revision>
  <dcterms:created xsi:type="dcterms:W3CDTF">2025-06-25T03:30:32Z</dcterms:created>
  <dcterms:modified xsi:type="dcterms:W3CDTF">2026-07-17T06:36:59Z</dcterms:modified>
</cp:coreProperties>
</file>