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3" r:id="rId47"/>
    <p:sldId id="257" r:id="rId4"/>
    <p:sldId id="260" r:id="rId7"/>
    <p:sldId id="273" r:id="rId19"/>
    <p:sldId id="284" r:id="rId48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49"/>
    </p:embeddedFont>
    <p:embeddedFont>
      <p:font typeface="Inter Medium"/>
      <p:regular r:id="rId50"/>
    </p:embeddedFont>
    <p:embeddedFont>
      <p:font typeface="Inter Regular"/>
      <p:regular r:id="rId51"/>
      <p:bold r:id="rId52"/>
    </p:embeddedFont>
    <p:embeddedFont>
      <p:font typeface="MiSans"/>
      <p:regular r:id="rId53"/>
      <p:bold r:id="rId54"/>
    </p:embeddedFont>
    <p:embeddedFont>
      <p:font typeface="MiSans Demibold"/>
      <p:regular r:id="rId55"/>
    </p:embeddedFont>
    <p:embeddedFont>
      <p:font typeface="MiSans Normal"/>
      <p:regular r:id="rId56"/>
      <p:bold r:id="rId57"/>
    </p:embeddedFont>
    <p:embeddedFont>
      <p:font typeface="Plus Jakarta Sans Regular"/>
      <p:regular r:id="rId58"/>
      <p:bold r:id="rId59"/>
    </p:embeddedFont>
  </p:embeddedFontLst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Relationship Id="rId47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Relationship Id="rId52" Type="http://schemas.openxmlformats.org/officeDocument/2006/relationships/font" Target="fonts/font4.fntdata"/><Relationship Id="rId53" Type="http://schemas.openxmlformats.org/officeDocument/2006/relationships/font" Target="fonts/font5.fntdata"/><Relationship Id="rId54" Type="http://schemas.openxmlformats.org/officeDocument/2006/relationships/font" Target="fonts/font6.fntdata"/><Relationship Id="rId55" Type="http://schemas.openxmlformats.org/officeDocument/2006/relationships/font" Target="fonts/font7.fntdata"/><Relationship Id="rId56" Type="http://schemas.openxmlformats.org/officeDocument/2006/relationships/font" Target="fonts/font8.fntdata"/><Relationship Id="rId57" Type="http://schemas.openxmlformats.org/officeDocument/2006/relationships/font" Target="fonts/font9.fntdata"/><Relationship Id="rId58" Type="http://schemas.openxmlformats.org/officeDocument/2006/relationships/font" Target="fonts/font10.fntdata"/><Relationship Id="rId59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封面：第二单元第一篇课文《古诗三首》，一起看看古人笔下的秋天。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第一部分：课前签到，答到时说一个描写秋天的词语。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情境导入：三句秋天的诗，引出三首古诗，问学生眼里的秋天是什么颜色。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朗读闯关：强调字音（擎、傲、篱、促）和节奏（二三停顿）。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点名签到页：点到名字大声答「到」，再说一个描写秋天的词语为本组挣一片枫叶；小主播背诵一句学过的古诗。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品读《山行》：读诗句，想象画面，说说诗人为什么停车。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最关键的一页：聚焦「霜叶红于二月花」，点明用春花比秋叶的妙处。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积分榜：按答到、朗读、说诗意、背诵、书写五项给星。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理解词语三把钥匙：看注释、想画面、联系生活，这是本单元的语文要素。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幸运大转盘：转到哪一组，哪一组朗读对应的古诗或说景物。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作业：基础抄写默写；挑战把古诗改写成秋景小短文。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收束：秋天不只有落叶，还有红于二月花的霜叶。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58a18ca47a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9b7b6e73b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d7a91f6c91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45192894ab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f52ba77551.jpg"/><Relationship Id="rId4" Type="http://schemas.openxmlformats.org/officeDocument/2006/relationships/image" Target="../media/img_c9560f2d25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748b43016a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c7835f6bc4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4 古诗三首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第二单元 · 金秋时节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走进秋天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秋天入诗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古人看到秋天，会写下什么？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《山行》：霜叶红于二月花。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《赠刘景文》：最是橙黄橘绿时。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《夜书所见》：江上秋风动客情。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说说你眼里的秋天是什么颜色的，用一句诗或一句话回答。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情境导入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朗读闯关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自由朗读三首古诗，读准字音，读通诗句。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注意「斜、擎 qíng、傲 ào、篱 lí、促 cù」的读音。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读出节奏：如「远上／寒山／石径斜」。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三首诗分别写了秋天的哪些景物？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诗人看到这些景物，心情一样吗？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初读任务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听到名字大声答「到」，再说一个描写秋天的词语。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答完到黑板上为本组贴一片枫叶，四组比一比。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人，背诵一句学过的古诗。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《山行》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读一读，想象画面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远上寒山石径斜，白云生处有人家。停车坐爱枫林晚，霜叶红于二月花。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一条石头小路弯弯曲曲伸向深秋的山上，白云飘着的地方竟然住着人家。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诗人为什么「停车」？因为那片枫林太美了。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霜叶红于二月花——不说「枫叶很红」，而说它比二月的春花还红。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新鲜在哪：用春天的花来比秋天的叶，一比，颜色就亮了。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一个「红于」，写尽了秋的热烈。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+1★｜朗读正确有节奏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说清诗意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背诵一首 +2★｜书写端正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03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品读感悟 · 理解诗意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理解词语 · 三把钥匙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看注释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课本下面的注释是最好的帮手：寒山、石径、坐（因为）、擎雨盖。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读书时别忘了看注释。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想画面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不理解的字，想想它让你看到什么画面。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「霜叶红于二月花」——经霜的枫叶比春花还红。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联系生活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「橙黄橘绿」——你见过增城秋天果园的颜色吗？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联系自己见过的景象，诗意就明白了。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朗读《山行》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朗读《赠刘景文》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朗读《夜书所见》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说说三首诗的景物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转到谁，谁展示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抄写三首古诗各 1 遍；背诵《山行》并默写。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选一首诗，把它改写成一段 100 字左右的秋景小短文。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古诗三首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第二单元 · 第4课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altLang="zh-CN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秋天不只有落叶，还有红于二月花的霜叶。</a:t>
            </a:r>
            <a:r>
              <a:rPr lang="en-US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1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下课前，用一句话说说你最喜欢哪一句。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初读古诗 · 读准读通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统编版三上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02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