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6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notesSlides/notesSlide24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5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p15="http://schemas.microsoft.com/office/powerpoint/2012/main" xmlns:r="http://schemas.openxmlformats.org/officeDocument/2006/relationships" embedTrueTypeFonts="1" autoCompressPictures="0">
  <p:sldMasterIdLst>
    <p:sldMasterId id="2147483650" r:id="rId1"/>
  </p:sldMasterIdLst>
  <p:notesMasterIdLst>
    <p:notesMasterId r:id="rId23"/>
  </p:notesMasterIdLst>
  <p:sldIdLst>
    <p:sldId id="256" r:id="rId2"/>
    <p:sldId id="277" r:id="rId3"/>
    <p:sldId id="272" r:id="rId10"/>
    <p:sldId id="283" r:id="rId47"/>
    <p:sldId id="257" r:id="rId4"/>
    <p:sldId id="260" r:id="rId7"/>
    <p:sldId id="273" r:id="rId19"/>
    <p:sldId id="284" r:id="rId48"/>
    <p:sldId id="263" r:id="rId11"/>
    <p:sldId id="266" r:id="rId13"/>
    <p:sldId id="274" r:id="rId20"/>
    <p:sldId id="268" r:id="rId17"/>
    <p:sldId id="276" r:id="rId21"/>
    <p:sldId id="280" r:id="rId22"/>
  </p:sldIdLst>
  <p:sldSz cx="9144000" cy="5143500" type="screen16x9"/>
  <p:notesSz cx="13716000" cy="24387175"/>
  <p:embeddedFontLst>
    <p:embeddedFont>
      <p:font typeface="Inter Light"/>
      <p:regular r:id="rId49"/>
    </p:embeddedFont>
    <p:embeddedFont>
      <p:font typeface="Inter Medium"/>
      <p:regular r:id="rId50"/>
    </p:embeddedFont>
    <p:embeddedFont>
      <p:font typeface="Inter Regular"/>
      <p:regular r:id="rId51"/>
      <p:bold r:id="rId52"/>
    </p:embeddedFont>
    <p:embeddedFont>
      <p:font typeface="MiSans"/>
      <p:regular r:id="rId53"/>
      <p:bold r:id="rId54"/>
    </p:embeddedFont>
    <p:embeddedFont>
      <p:font typeface="MiSans Demibold"/>
      <p:regular r:id="rId55"/>
    </p:embeddedFont>
    <p:embeddedFont>
      <p:font typeface="MiSans Normal"/>
      <p:regular r:id="rId56"/>
      <p:bold r:id="rId57"/>
    </p:embeddedFont>
    <p:embeddedFont>
      <p:font typeface="Plus Jakarta Sans Regular"/>
      <p:regular r:id="rId58"/>
      <p:bold r:id="rId59"/>
    </p:embeddedFont>
  </p:embeddedFontLst>
  <p:embeddedFontLst>
    <p:embeddedFont>
      <p:font typeface="Inter Light"/>
      <p:regular r:id="rId36"/>
    </p:embeddedFont>
    <p:embeddedFont>
      <p:font typeface="Inter Medium"/>
      <p:regular r:id="rId37"/>
    </p:embeddedFont>
    <p:embeddedFont>
      <p:font typeface="Inter Regular"/>
      <p:regular r:id="rId38"/>
      <p:bold r:id="rId39"/>
    </p:embeddedFont>
    <p:embeddedFont>
      <p:font typeface="MiSans"/>
      <p:regular r:id="rId40"/>
      <p:bold r:id="rId41"/>
    </p:embeddedFont>
    <p:embeddedFont>
      <p:font typeface="MiSans Demibold"/>
      <p:regular r:id="rId42"/>
    </p:embeddedFont>
    <p:embeddedFont>
      <p:font typeface="MiSans Normal"/>
      <p:regular r:id="rId43"/>
      <p:bold r:id="rId44"/>
    </p:embeddedFont>
    <p:embeddedFont>
      <p:font typeface="Plus Jakarta Sans Regular"/>
      <p:regular r:id="rId45"/>
      <p:bold r:id="rId46"/>
    </p:embeddedFont>
  </p:embeddedFontLst>
  <p:embeddedFontLst>
    <p:embeddedFont>
      <p:font typeface="MiSans Demibold" pitchFamily="2" charset="-122"/>
      <p:regular r:id="rId24"/>
    </p:embeddedFont>
    <p:embeddedFont>
      <p:font typeface="Inter Medium" panose="02000503000000020004"/>
      <p:regular r:id="rId25"/>
      <p:bold r:id="rId26"/>
    </p:embeddedFont>
    <p:embeddedFont>
      <p:font typeface="MiSans"/>
      <p:regular r:id="rId27"/>
      <p:bold r:id="rId28"/>
    </p:embeddedFont>
    <p:embeddedFont>
      <p:font typeface="MiSans Normal"/>
      <p:regular r:id="rId2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F7E9"/>
    <a:srgbClr val="B2D699"/>
    <a:srgbClr val="548235"/>
    <a:srgbClr val="7CAB32"/>
    <a:srgbClr val="BBDA6F"/>
    <a:srgbClr val="CAE9F4"/>
    <a:srgbClr val="8EBD3B"/>
    <a:srgbClr val="65A755"/>
    <a:srgbClr val="3C7AA6"/>
    <a:srgbClr val="80AB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2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theme" Target="theme/theme1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presProps" Target="presProps.xml"/><Relationship Id="rId36" Type="http://schemas.openxmlformats.org/officeDocument/2006/relationships/font" Target="fonts/font1.fntdata"/><Relationship Id="rId37" Type="http://schemas.openxmlformats.org/officeDocument/2006/relationships/font" Target="fonts/font2.fntdata"/><Relationship Id="rId38" Type="http://schemas.openxmlformats.org/officeDocument/2006/relationships/font" Target="fonts/font3.fntdata"/><Relationship Id="rId39" Type="http://schemas.openxmlformats.org/officeDocument/2006/relationships/font" Target="fonts/font4.fntdata"/><Relationship Id="rId40" Type="http://schemas.openxmlformats.org/officeDocument/2006/relationships/font" Target="fonts/font5.fntdata"/><Relationship Id="rId41" Type="http://schemas.openxmlformats.org/officeDocument/2006/relationships/font" Target="fonts/font6.fntdata"/><Relationship Id="rId42" Type="http://schemas.openxmlformats.org/officeDocument/2006/relationships/font" Target="fonts/font7.fntdata"/><Relationship Id="rId43" Type="http://schemas.openxmlformats.org/officeDocument/2006/relationships/font" Target="fonts/font8.fntdata"/><Relationship Id="rId44" Type="http://schemas.openxmlformats.org/officeDocument/2006/relationships/font" Target="fonts/font9.fntdata"/><Relationship Id="rId45" Type="http://schemas.openxmlformats.org/officeDocument/2006/relationships/font" Target="fonts/font10.fntdata"/><Relationship Id="rId46" Type="http://schemas.openxmlformats.org/officeDocument/2006/relationships/font" Target="fonts/font11.fntdata"/><Relationship Id="rId47" Type="http://schemas.openxmlformats.org/officeDocument/2006/relationships/slide" Target="slides/slide24.xml"/><Relationship Id="rId48" Type="http://schemas.openxmlformats.org/officeDocument/2006/relationships/slide" Target="slides/slide25.xml"/><Relationship Id="rId49" Type="http://schemas.openxmlformats.org/officeDocument/2006/relationships/font" Target="fonts/font1.fntdata"/><Relationship Id="rId50" Type="http://schemas.openxmlformats.org/officeDocument/2006/relationships/font" Target="fonts/font2.fntdata"/><Relationship Id="rId51" Type="http://schemas.openxmlformats.org/officeDocument/2006/relationships/font" Target="fonts/font3.fntdata"/><Relationship Id="rId52" Type="http://schemas.openxmlformats.org/officeDocument/2006/relationships/font" Target="fonts/font4.fntdata"/><Relationship Id="rId53" Type="http://schemas.openxmlformats.org/officeDocument/2006/relationships/font" Target="fonts/font5.fntdata"/><Relationship Id="rId54" Type="http://schemas.openxmlformats.org/officeDocument/2006/relationships/font" Target="fonts/font6.fntdata"/><Relationship Id="rId55" Type="http://schemas.openxmlformats.org/officeDocument/2006/relationships/font" Target="fonts/font7.fntdata"/><Relationship Id="rId56" Type="http://schemas.openxmlformats.org/officeDocument/2006/relationships/font" Target="fonts/font8.fntdata"/><Relationship Id="rId57" Type="http://schemas.openxmlformats.org/officeDocument/2006/relationships/font" Target="fonts/font9.fntdata"/><Relationship Id="rId58" Type="http://schemas.openxmlformats.org/officeDocument/2006/relationships/font" Target="fonts/font10.fntdata"/><Relationship Id="rId59" Type="http://schemas.openxmlformats.org/officeDocument/2006/relationships/font" Target="fonts/font11.fntdata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8053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42809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1pPr>
    <a:lvl2pPr marL="171404" algn="l" defTabSz="342809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2pPr>
    <a:lvl3pPr marL="342809" algn="l" defTabSz="342809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3pPr>
    <a:lvl4pPr marL="514213" algn="l" defTabSz="342809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4pPr>
    <a:lvl5pPr marL="685617" algn="l" defTabSz="342809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5pPr>
    <a:lvl6pPr marL="857021" algn="l" defTabSz="342809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6pPr>
    <a:lvl7pPr marL="1028426" algn="l" defTabSz="342809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7pPr>
    <a:lvl8pPr marL="1199830" algn="l" defTabSz="342809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8pPr>
    <a:lvl9pPr marL="1371234" algn="l" defTabSz="342809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封面：今天学习听听，秋的声音。先别急着读，看一眼课题，带着一个问题进课文——秋的声音从哪里来？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第一部分：课前签到 · 静听秋声，先让全班热起来。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情境导入：让学生闭眼听十秒，唤醒听觉经验，再读诗中的「刷刷」「㘗㘗」。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初读任务：读出诗歌的节奏，边读边圈出诗中写了哪些声音。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点名签到页：点到名字大声答「到」，再说一个描写声音的词语为本组挣贴一片落叶；再抽一位今日小主播说说听到的秋的声音。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品读「大树抖抖手臂」：读「抖抖手臂」，让学生看见大树像人一样在告别。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最关键的一页：聚焦「匆匆地来、匆匆地去」，点明用声音写惜秋之情的妙处。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积分榜：按本页五项标准给星，下课前评出今日星光小组。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词句闯关：抓虫字旁「蟋蟀」，易错字「割、厅」，用动作理解「道别、歌韵」。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幸运大转盘：转到哪一组，哪一组谁，谁朗读，完成得好得两颗星。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作业：基础作业抄写与背诵（或写话）；挑战作业给出句式支架，写得好的明天当范文读。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收束：让学生用一句话说说自己听到的秋天，提醒摘抄积累。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第一部分：课前签到，先让全班热起来，答到时说一个描写雨的词语，顺便复习词语积累。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第一部分：课前签到，先让全班热起来，答到时说一个描写雨的词语，顺便复习词语积累。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44798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186713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40286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126441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164536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592224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154110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32235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950700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21388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825120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4313147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322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g_da2d3a96ac.jpg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g_967ac5981f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g_211364fb37.jpg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g_edd42ceb40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openxmlformats.org/officeDocument/2006/relationships/image" Target="../media/img_bc1d1e748a.jpg"/><Relationship Id="rId4" Type="http://schemas.openxmlformats.org/officeDocument/2006/relationships/image" Target="../media/img_5a167991e0.jpg"/></Relationships>
</file>

<file path=ppt/slides/_rels/slide12.xml.rels><?xml version="1.0" encoding="UTF-8"?><Relationships xmlns="http://schemas.openxmlformats.org/package/2006/relationships"><Relationship Id="rId3" Type="http://schemas.openxmlformats.org/officeDocument/2006/relationships/image" Target="../media/img_7f67450380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g_3bee22a761.jpg"/></Relationships>
</file>

<file path=ppt/slides/_rels/slide16.xml.rels><?xml version="1.0" encoding="UTF-8"?>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8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?>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0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?>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4.xml.rels><?xml version="1.0" encoding="UTF-8"?>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?>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1"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id="{089E8DB7-D260-FFDA-4BD9-D4529823D9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732" y="0"/>
            <a:ext cx="4444268" cy="5143500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id="{9FA20D1F-5B0D-CEC4-B6D4-F31A950A4324}"/>
              </a:ext>
            </a:extLst>
          </p:cNvPr>
          <p:cNvSpPr/>
          <p:nvPr/>
        </p:nvSpPr>
        <p:spPr>
          <a:xfrm>
            <a:off x="4699732" y="0"/>
            <a:ext cx="4444268" cy="5143500"/>
          </a:xfrm>
          <a:prstGeom prst="rect">
            <a:avLst/>
          </a:prstGeom>
          <a:solidFill>
            <a:schemeClr val="tx1">
              <a:lumMod val="65000"/>
              <a:lumOff val="35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 4">
            <a:extLst>
              <a:ext uri="{FF2B5EF4-FFF2-40B4-BE49-F238E27FC236}">
                <a16:creationId id="{11F0FDC0-FA29-B69A-AE24-6B2CADE49CD0}"/>
              </a:ext>
            </a:extLst>
          </p:cNvPr>
          <p:cNvSpPr/>
          <p:nvPr/>
        </p:nvSpPr>
        <p:spPr>
          <a:xfrm>
            <a:off x="7248487" y="186048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chemeClr val="bg1"/>
                </a:solidFill>
                <a:latin typeface="+mn-ea"/>
                <a:cs typeface="Plus Jakarta Sans Regular" pitchFamily="2" charset="0"/>
              </a:rPr>
              <a:t>统编版·语文三年级上册</a:t>
            </a:r>
            <a:endParaRPr lang="en-US" sz="825" b="1" dirty="0">
              <a:solidFill>
                <a:schemeClr val="bg1"/>
              </a:solidFill>
              <a:latin typeface="+mn-ea"/>
              <a:cs typeface="Plus Jakarta Sans Regular" pitchFamily="2" charset="0"/>
            </a:endParaRPr>
          </a:p>
        </p:txBody>
      </p:sp>
      <p:sp>
        <p:nvSpPr>
          <p:cNvPr id="4" name="Text 0"/>
          <p:cNvSpPr/>
          <p:nvPr/>
        </p:nvSpPr>
        <p:spPr>
          <a:xfrm>
            <a:off x="285749" y="186048"/>
            <a:ext cx="1946240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FFFFFF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2" charset="0"/>
              </a:rPr>
              <a:t>广州市增城区 ＿＿ 小学</a:t>
            </a:r>
            <a:endParaRPr lang="en-US" sz="825" b="1" dirty="0">
              <a:latin typeface="MiSans Normal" pitchFamily="2" charset="-122"/>
              <a:ea typeface="MiSans Normal" pitchFamily="2" charset="-122"/>
              <a:cs typeface="Plus Jakarta Sans Regular" pitchFamily="2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285750" y="2381835"/>
            <a:ext cx="4158432" cy="1437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4320"/>
              </a:lnSpc>
            </a:pPr>
            <a:r>
              <a:rPr lang="en-US" altLang="zh-CN" sz="3600" dirty="0">
                <a:solidFill>
                  <a:srgbClr val="FFFFFF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听听，秋的声音</a:t>
            </a:r>
            <a:endParaRPr lang="en-US" sz="3600" dirty="0"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Text 5"/>
          <p:cNvSpPr/>
          <p:nvPr/>
        </p:nvSpPr>
        <p:spPr>
          <a:xfrm>
            <a:off x="285748" y="3819363"/>
            <a:ext cx="2471725" cy="154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en-US" altLang="zh-CN" sz="900" b="1" dirty="0">
                <a:solidFill>
                  <a:srgbClr val="878787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Inter Regular" pitchFamily="34" charset="-120"/>
              </a:rPr>
              <a:t>授课教师：＿＿＿＿</a:t>
            </a:r>
            <a:r>
              <a:rPr lang="zh-CN" altLang="en-US" sz="900" b="1" dirty="0">
                <a:solidFill>
                  <a:srgbClr val="878787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Inter Regular" pitchFamily="34" charset="-120"/>
              </a:rPr>
              <a:t/>
            </a:r>
            <a:endParaRPr lang="en-US" sz="9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Text 2">
            <a:extLst>
              <a:ext uri="{FF2B5EF4-FFF2-40B4-BE49-F238E27FC236}">
                <a16:creationId id="{C007DFB7-4839-A0F7-E833-61F57BAB2C6A}"/>
              </a:ext>
            </a:extLst>
          </p:cNvPr>
          <p:cNvSpPr/>
          <p:nvPr/>
        </p:nvSpPr>
        <p:spPr>
          <a:xfrm>
            <a:off x="3428982" y="186048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Plus Jakarta Sans Regular" pitchFamily="2" charset="0"/>
              </a:rPr>
              <a:t>三年级（  ）班</a:t>
            </a:r>
            <a:endParaRPr lang="en-US" sz="825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Plus Jakarta Sans Regular" pitchFamily="2" charset="0"/>
            </a:endParaRPr>
          </a:p>
        </p:txBody>
      </p:sp>
      <p:sp>
        <p:nvSpPr>
          <p:cNvPr id="14" name="Text 5">
            <a:extLst>
              <a:ext uri="{FF2B5EF4-FFF2-40B4-BE49-F238E27FC236}">
                <a16:creationId id="{24860387-D044-F689-DE1C-6AB48C1B4457}"/>
              </a:ext>
            </a:extLst>
          </p:cNvPr>
          <p:cNvSpPr/>
          <p:nvPr/>
        </p:nvSpPr>
        <p:spPr>
          <a:xfrm>
            <a:off x="285748" y="4059228"/>
            <a:ext cx="2471725" cy="154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en-US" altLang="zh-CN" sz="900" b="1" dirty="0">
                <a:solidFill>
                  <a:srgbClr val="878787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Inter Regular" pitchFamily="34" charset="-120"/>
              </a:rPr>
              <a:t>第二单元 · 金秋时节</a:t>
            </a:r>
            <a:r>
              <a:rPr lang="zh-CN" altLang="en-US" sz="900" b="1" dirty="0">
                <a:solidFill>
                  <a:srgbClr val="878787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Inter Regular" pitchFamily="34" charset="-120"/>
              </a:rPr>
              <a:t/>
            </a:r>
            <a:endParaRPr lang="en-US" sz="900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22">
    <p:bg>
      <p:bgPr>
        <a:solidFill>
          <a:srgbClr val="EEF7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id="{E0288ED9-8C1A-5C02-5448-E207F68FE65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rcRect b="6262"/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879740" y="571761"/>
            <a:ext cx="1801744" cy="4039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1500"/>
              </a:lnSpc>
            </a:pPr>
            <a:r>
              <a:rPr lang="en-US" sz="10500" dirty="0">
                <a:solidFill>
                  <a:schemeClr val="accent6">
                    <a:lumMod val="40000"/>
                    <a:lumOff val="60000"/>
                  </a:schemeClr>
                </a:solidFill>
                <a:latin typeface="MiSans Demibold" pitchFamily="2" charset="-122"/>
                <a:ea typeface="MiSans Demibold" pitchFamily="2" charset="-122"/>
                <a:cs typeface="Inter Light" pitchFamily="34" charset="-120"/>
              </a:rPr>
              <a:t>01</a:t>
            </a:r>
            <a:endParaRPr lang="en-US" sz="10500" dirty="0">
              <a:solidFill>
                <a:schemeClr val="accent6">
                  <a:lumMod val="40000"/>
                  <a:lumOff val="60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190499" y="2081276"/>
            <a:ext cx="5178616" cy="987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7740"/>
              </a:lnSpc>
            </a:pPr>
            <a:r>
              <a:rPr lang="en-US" altLang="zh-CN" sz="6450" dirty="0">
                <a:solidFill>
                  <a:srgbClr val="B2D699"/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课前签到 · 静听秋声</a:t>
            </a:r>
            <a:endParaRPr lang="en-US" sz="6450" dirty="0">
              <a:solidFill>
                <a:srgbClr val="B2D699"/>
              </a:solidFill>
              <a:latin typeface="MiSans Demibold" pitchFamily="2" charset="-122"/>
              <a:ea typeface="MiSans Demibold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66977"/>
            <a:ext cx="9143952" cy="476188"/>
          </a:xfrm>
          <a:prstGeom prst="rect">
            <a:avLst/>
          </a:prstGeom>
          <a:ln>
            <a:noFill/>
          </a:ln>
        </p:spPr>
      </p:pic>
      <p:pic>
        <p:nvPicPr>
          <p:cNvPr id="17" name="图片 16">
            <a:extLst>
              <a:ext uri="{FF2B5EF4-FFF2-40B4-BE49-F238E27FC236}">
                <a16:creationId id="{1F830095-E384-F819-C8AA-514C4B80869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9980" r="29980"/>
          <a:stretch>
            <a:fillRect/>
          </a:stretch>
        </p:blipFill>
        <p:spPr>
          <a:xfrm>
            <a:off x="190499" y="193717"/>
            <a:ext cx="3047984" cy="42856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49" y="4852691"/>
            <a:ext cx="1390814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听听，秋的声音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Shape 1"/>
          <p:cNvSpPr/>
          <p:nvPr/>
        </p:nvSpPr>
        <p:spPr>
          <a:xfrm>
            <a:off x="4029054" y="4852691"/>
            <a:ext cx="4829150" cy="10476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7" name="Text 4"/>
          <p:cNvSpPr/>
          <p:nvPr/>
        </p:nvSpPr>
        <p:spPr>
          <a:xfrm>
            <a:off x="7231025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统编版三上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Shape 5"/>
          <p:cNvSpPr/>
          <p:nvPr/>
        </p:nvSpPr>
        <p:spPr>
          <a:xfrm>
            <a:off x="3428983" y="3390793"/>
            <a:ext cx="2533637" cy="1085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0" name="Text 6"/>
          <p:cNvSpPr/>
          <p:nvPr/>
        </p:nvSpPr>
        <p:spPr>
          <a:xfrm>
            <a:off x="3428982" y="3390793"/>
            <a:ext cx="2628886" cy="319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1800" dirty="0">
                <a:latin typeface="MiSans" pitchFamily="2" charset="-122"/>
                <a:ea typeface="MiSans" pitchFamily="2" charset="-122"/>
                <a:cs typeface="Inter Medium" pitchFamily="34" charset="-120"/>
              </a:rPr>
              <a:t>秋的声音</a:t>
            </a:r>
            <a:endParaRPr lang="en-US" sz="18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1" name="Text 7"/>
          <p:cNvSpPr/>
          <p:nvPr/>
        </p:nvSpPr>
        <p:spPr>
          <a:xfrm>
            <a:off x="3428983" y="3828886"/>
            <a:ext cx="2628886" cy="654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大树抖抖手臂，「刷刷」，是黄叶道别的话音。</a:t>
            </a:r>
            <a:r>
              <a:rPr lang="en-US" sz="900" dirty="0" err="1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ja-JP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  <a:p>
            <a:pPr>
              <a:lnSpc>
                <a:spcPts val="1260"/>
              </a:lnSpc>
            </a:pPr>
            <a:r>
              <a:rPr 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蟋蟀振动翅膀，「㘗㘗」，是和阳台告别的歌韵。</a:t>
            </a:r>
            <a:r>
              <a:rPr lang="en-US" sz="900" dirty="0" err="1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ja-JP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  <a:p>
            <a:pPr>
              <a:lnSpc>
                <a:spcPts val="1260"/>
              </a:lnSpc>
            </a:pPr>
            <a:r>
              <a:rPr 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增城的秋天，你听到过哪些声音？</a:t>
            </a:r>
            <a:r>
              <a:rPr lang="en-US" sz="900" dirty="0" err="1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ja-JP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6243605" y="3390793"/>
            <a:ext cx="2533637" cy="1085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3" name="Text 9"/>
          <p:cNvSpPr/>
          <p:nvPr/>
        </p:nvSpPr>
        <p:spPr>
          <a:xfrm>
            <a:off x="6243605" y="3390793"/>
            <a:ext cx="2628886" cy="3193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180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说一说</a:t>
            </a:r>
            <a:endParaRPr lang="en-US" sz="1800" dirty="0">
              <a:solidFill>
                <a:srgbClr val="242424">
                  <a:alpha val="100000"/>
                </a:srgbClr>
              </a:solidFill>
              <a:latin typeface="MiSans" pitchFamily="2" charset="-122"/>
              <a:ea typeface="MiSans" pitchFamily="2" charset="-122"/>
              <a:cs typeface="Inter Medium" pitchFamily="34" charset="-12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6243605" y="3828886"/>
            <a:ext cx="2682348" cy="654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用「我听到了＿＿，这是＿＿的声音」说一句话。</a:t>
            </a:r>
            <a:r>
              <a:rPr lang="en-US" altLang="zh-CN" sz="900" dirty="0" err="1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3428982" y="190810"/>
            <a:ext cx="4038089" cy="11541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4500"/>
              </a:lnSpc>
            </a:pPr>
            <a:r>
              <a:rPr lang="en-US" sz="375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情境导入</a:t>
            </a:r>
            <a:endParaRPr lang="en-US" sz="3750" dirty="0">
              <a:latin typeface="MiSans Demibold" pitchFamily="2" charset="-122"/>
              <a:ea typeface="MiSans Demibold" pitchFamily="2" charset="-122"/>
            </a:endParaRPr>
          </a:p>
          <a:p>
            <a:pPr>
              <a:lnSpc>
                <a:spcPts val="4500"/>
              </a:lnSpc>
            </a:pPr>
            <a:r>
              <a:rPr lang="en-US" sz="375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/>
            </a:r>
            <a:endParaRPr lang="en-US" sz="3750" dirty="0"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6" name="Text 2">
            <a:extLst>
              <a:ext uri="{FF2B5EF4-FFF2-40B4-BE49-F238E27FC236}">
                <a16:creationId id="{DE6E33D4-D1C6-74EA-C04C-D1B1FB37F0C7}"/>
              </a:ext>
            </a:extLst>
          </p:cNvPr>
          <p:cNvSpPr/>
          <p:nvPr/>
        </p:nvSpPr>
        <p:spPr>
          <a:xfrm>
            <a:off x="3428982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02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id="{CB139B56-34D3-9CBC-3FAA-7EE58481D7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021" b="6021"/>
          <a:stretch>
            <a:fillRect/>
          </a:stretch>
        </p:blipFill>
        <p:spPr>
          <a:xfrm>
            <a:off x="191779" y="2333656"/>
            <a:ext cx="4332571" cy="2142846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id="{4D9E2F6B-57E0-685A-0C07-CCE7E2EF8B6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986" b="5986"/>
          <a:stretch>
            <a:fillRect/>
          </a:stretch>
        </p:blipFill>
        <p:spPr>
          <a:xfrm>
            <a:off x="4619602" y="2333656"/>
            <a:ext cx="4333852" cy="214284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029054" y="4852691"/>
            <a:ext cx="4829150" cy="10476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8" name="Shape 5"/>
          <p:cNvSpPr/>
          <p:nvPr/>
        </p:nvSpPr>
        <p:spPr>
          <a:xfrm>
            <a:off x="4667226" y="190810"/>
            <a:ext cx="2047864" cy="195237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9" name="Text 6"/>
          <p:cNvSpPr/>
          <p:nvPr/>
        </p:nvSpPr>
        <p:spPr>
          <a:xfrm>
            <a:off x="4667227" y="324143"/>
            <a:ext cx="2143114" cy="3462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朗读闯关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667227" y="1333661"/>
            <a:ext cx="2047865" cy="3225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自由朗读诗歌，读准字音，读通句子，读出节奏。</a:t>
            </a:r>
          </a:p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想一想：诗中写了哪些声音？它们分别来自谁？</a:t>
            </a:r>
          </a:p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同桌互读，互相纠正一个读错的音。</a:t>
            </a:r>
          </a:p>
        </p:txBody>
      </p:sp>
      <p:sp>
        <p:nvSpPr>
          <p:cNvPr id="11" name="Shape 8"/>
          <p:cNvSpPr/>
          <p:nvPr/>
        </p:nvSpPr>
        <p:spPr>
          <a:xfrm>
            <a:off x="6905590" y="190810"/>
            <a:ext cx="2047864" cy="195237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2" name="Text 9"/>
          <p:cNvSpPr/>
          <p:nvPr/>
        </p:nvSpPr>
        <p:spPr>
          <a:xfrm>
            <a:off x="6905589" y="323257"/>
            <a:ext cx="2143114" cy="3462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思考题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905590" y="1333661"/>
            <a:ext cx="2047865" cy="8476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诗中写到的声音，你听到过吗？</a:t>
            </a:r>
            <a:endParaRPr lang="en-US" altLang="zh-CN" sz="900" dirty="0">
              <a:latin typeface="MiSans" pitchFamily="2" charset="-122"/>
              <a:ea typeface="MiSans" pitchFamily="2" charset="-122"/>
            </a:endParaRPr>
          </a:p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这些声音为什么让诗人觉得秋天是「辽阔的音乐厅」？</a:t>
            </a:r>
            <a:endParaRPr lang="en-US" altLang="zh-CN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190499" y="2333656"/>
            <a:ext cx="8762954" cy="214284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7" name="Text 12"/>
          <p:cNvSpPr/>
          <p:nvPr/>
        </p:nvSpPr>
        <p:spPr>
          <a:xfrm>
            <a:off x="190499" y="190810"/>
            <a:ext cx="4286228" cy="577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4500"/>
              </a:lnSpc>
            </a:pPr>
            <a:r>
              <a:rPr lang="en-US" sz="375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自主阅读</a:t>
            </a:r>
            <a:endParaRPr lang="en-US" sz="3750" dirty="0">
              <a:latin typeface="MiSans Demibold" pitchFamily="2" charset="-122"/>
              <a:ea typeface="MiSans Demibold" pitchFamily="2" charset="-122"/>
            </a:endParaRPr>
          </a:p>
        </p:txBody>
      </p:sp>
      <p:pic>
        <p:nvPicPr>
          <p:cNvPr id="20" name="Image 0" descr=" ">
            <a:extLst>
              <a:ext uri="{FF2B5EF4-FFF2-40B4-BE49-F238E27FC236}">
                <a16:creationId id="{A490F2CE-628C-EEF8-77B0-B70A93F0E8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666977"/>
            <a:ext cx="9143952" cy="476188"/>
          </a:xfrm>
          <a:prstGeom prst="rect">
            <a:avLst/>
          </a:prstGeom>
          <a:ln>
            <a:noFill/>
          </a:ln>
        </p:spPr>
      </p:pic>
      <p:sp>
        <p:nvSpPr>
          <p:cNvPr id="6" name="Text 0">
            <a:extLst>
              <a:ext uri="{FF2B5EF4-FFF2-40B4-BE49-F238E27FC236}">
                <a16:creationId id="{EC93E55B-5785-3EAF-ACBB-CA0AFA1B4F05}"/>
              </a:ext>
            </a:extLst>
          </p:cNvPr>
          <p:cNvSpPr/>
          <p:nvPr/>
        </p:nvSpPr>
        <p:spPr>
          <a:xfrm>
            <a:off x="285749" y="4852691"/>
            <a:ext cx="1390814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听听，秋的声音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Text 4">
            <a:extLst>
              <a:ext uri="{FF2B5EF4-FFF2-40B4-BE49-F238E27FC236}">
                <a16:creationId id="{07FF7B6F-60E9-E4F6-2FD9-B2F419820CEB}"/>
              </a:ext>
            </a:extLst>
          </p:cNvPr>
          <p:cNvSpPr/>
          <p:nvPr/>
        </p:nvSpPr>
        <p:spPr>
          <a:xfrm>
            <a:off x="7231025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统编版三上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Text 2">
            <a:extLst>
              <a:ext uri="{FF2B5EF4-FFF2-40B4-BE49-F238E27FC236}">
                <a16:creationId id="{E07D558A-DD4B-8C7E-391A-8020A54BF230}"/>
              </a:ext>
            </a:extLst>
          </p:cNvPr>
          <p:cNvSpPr/>
          <p:nvPr/>
        </p:nvSpPr>
        <p:spPr>
          <a:xfrm>
            <a:off x="3428982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02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5"/>
          <p:cNvSpPr/>
          <p:nvPr/>
        </p:nvSpPr>
        <p:spPr>
          <a:xfrm>
            <a:off x="190499" y="4133647"/>
            <a:ext cx="1333493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</a:rPr>
              <a:t>已到校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9" name="Text 6"/>
          <p:cNvSpPr/>
          <p:nvPr/>
        </p:nvSpPr>
        <p:spPr>
          <a:xfrm>
            <a:off x="7491374" y="4133647"/>
            <a:ext cx="1333493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</a:rPr>
              <a:t>请举手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029055" y="4133647"/>
            <a:ext cx="2217227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今日小主播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90499" y="1147948"/>
            <a:ext cx="3238483" cy="2234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7740"/>
              </a:lnSpc>
            </a:pPr>
            <a:r>
              <a:rPr lang="en-US" sz="645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上课啦 · 点名签到</a:t>
            </a:r>
            <a:endParaRPr lang="en-US" sz="6450" dirty="0"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029055" y="2290799"/>
            <a:ext cx="4566250" cy="1126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785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听到名字大声答「到」，再说一个描写声音的词语。</a:t>
            </a:r>
            <a:r>
              <a:rPr lang="ja-JP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</a:p>
          <a:p>
            <a:pPr>
              <a:lnSpc>
                <a:spcPts val="1785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答完到黑板上为本组贴一片落叶，四组比一比。</a:t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solidFill>
                <a:srgbClr val="878787">
                  <a:alpha val="100000"/>
                </a:srgbClr>
              </a:solidFill>
              <a:latin typeface="MiSans" pitchFamily="2" charset="-122"/>
              <a:ea typeface="MiSans" pitchFamily="2" charset="-122"/>
              <a:cs typeface="Inter Regular" pitchFamily="34" charset="-120"/>
            </a:endParaRPr>
          </a:p>
          <a:p>
            <a:pPr>
              <a:lnSpc>
                <a:spcPts val="1785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今日小主播：抽 1 人，闭眼听十秒，说说听到了什么。</a:t>
            </a:r>
          </a:p>
          <a:p>
            <a:pPr>
              <a:lnSpc>
                <a:spcPts val="1785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pic>
        <p:nvPicPr>
          <p:cNvPr id="14" name="Image 0" descr=" ">
            <a:extLst>
              <a:ext uri="{FF2B5EF4-FFF2-40B4-BE49-F238E27FC236}">
                <a16:creationId id="{47A48DB0-4C57-8CA3-9F11-FBC63287C9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66977"/>
            <a:ext cx="9143952" cy="476188"/>
          </a:xfrm>
          <a:prstGeom prst="rect">
            <a:avLst/>
          </a:prstGeom>
          <a:ln>
            <a:noFill/>
          </a:ln>
        </p:spPr>
      </p:pic>
      <p:sp>
        <p:nvSpPr>
          <p:cNvPr id="5" name="Text 0">
            <a:extLst>
              <a:ext uri="{FF2B5EF4-FFF2-40B4-BE49-F238E27FC236}">
                <a16:creationId id="{66423CAB-3A55-325F-37A4-D7A7F11B2523}"/>
              </a:ext>
            </a:extLst>
          </p:cNvPr>
          <p:cNvSpPr/>
          <p:nvPr/>
        </p:nvSpPr>
        <p:spPr>
          <a:xfrm>
            <a:off x="285749" y="4852691"/>
            <a:ext cx="1390814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听听，秋的声音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Text 4">
            <a:extLst>
              <a:ext uri="{FF2B5EF4-FFF2-40B4-BE49-F238E27FC236}">
                <a16:creationId id="{83A224D0-AD08-46D2-E7B7-F3A56562777C}"/>
              </a:ext>
            </a:extLst>
          </p:cNvPr>
          <p:cNvSpPr/>
          <p:nvPr/>
        </p:nvSpPr>
        <p:spPr>
          <a:xfrm>
            <a:off x="7231025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第1课时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Text 2">
            <a:extLst>
              <a:ext uri="{FF2B5EF4-FFF2-40B4-BE49-F238E27FC236}">
                <a16:creationId id="{2A670673-EDD2-F7F0-6AF4-229BBBFAA8AE}"/>
              </a:ext>
            </a:extLst>
          </p:cNvPr>
          <p:cNvSpPr/>
          <p:nvPr/>
        </p:nvSpPr>
        <p:spPr>
          <a:xfrm>
            <a:off x="3428982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01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id="{8FC68798-DB23-F2E0-5A5B-9AB99B9140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246" b="14246"/>
          <a:stretch>
            <a:fillRect/>
          </a:stretch>
        </p:blipFill>
        <p:spPr>
          <a:xfrm>
            <a:off x="5977025" y="3278030"/>
            <a:ext cx="2976428" cy="119847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id="{05519FCD-2BD1-E32B-460B-C3A44B05E14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4118" b="14118"/>
          <a:stretch>
            <a:fillRect/>
          </a:stretch>
        </p:blipFill>
        <p:spPr>
          <a:xfrm>
            <a:off x="2909870" y="3278031"/>
            <a:ext cx="2974166" cy="1198471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id="{D91806F6-EFB1-67F1-2900-9466C5E4851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752" b="5752"/>
          <a:stretch>
            <a:fillRect/>
          </a:stretch>
        </p:blipFill>
        <p:spPr>
          <a:xfrm>
            <a:off x="2909872" y="190810"/>
            <a:ext cx="6043581" cy="300632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909873" y="190810"/>
            <a:ext cx="6043581" cy="4285692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0" name="Shape 6"/>
          <p:cNvSpPr/>
          <p:nvPr/>
        </p:nvSpPr>
        <p:spPr>
          <a:xfrm>
            <a:off x="2909873" y="2381275"/>
            <a:ext cx="6043581" cy="2095227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3" name="Text 7"/>
          <p:cNvSpPr/>
          <p:nvPr/>
        </p:nvSpPr>
        <p:spPr>
          <a:xfrm>
            <a:off x="190499" y="190810"/>
            <a:ext cx="2471724" cy="130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4000"/>
              </a:lnSpc>
            </a:pPr>
            <a:r>
              <a:rPr lang="en-US" altLang="zh-CN" sz="375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大树抖抖手臂</a:t>
            </a:r>
          </a:p>
          <a:p>
            <a:pPr>
              <a:lnSpc>
                <a:spcPts val="4000"/>
              </a:lnSpc>
            </a:pPr>
            <a:r>
              <a:rPr lang="en-US" altLang="zh-CN" sz="375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/>
            </a:r>
            <a:endParaRPr lang="en-US" sz="3750" dirty="0"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4" name="Shape 8"/>
          <p:cNvSpPr/>
          <p:nvPr/>
        </p:nvSpPr>
        <p:spPr>
          <a:xfrm>
            <a:off x="190499" y="3390793"/>
            <a:ext cx="2471725" cy="1085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5" name="Text 9"/>
          <p:cNvSpPr/>
          <p:nvPr/>
        </p:nvSpPr>
        <p:spPr>
          <a:xfrm>
            <a:off x="190499" y="3390793"/>
            <a:ext cx="256697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读一读，想象画面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190499" y="3828886"/>
            <a:ext cx="2566974" cy="68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大树抖抖手臂，「刷刷」，是黄叶道别的话音。</a:t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altLang="zh-CN" sz="900" dirty="0">
              <a:latin typeface="MiSans" pitchFamily="2" charset="-122"/>
              <a:ea typeface="MiSans" pitchFamily="2" charset="-122"/>
            </a:endParaRPr>
          </a:p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你听到了什么？看到了什么？</a:t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altLang="zh-CN" sz="900" dirty="0">
              <a:latin typeface="MiSans" pitchFamily="2" charset="-122"/>
              <a:ea typeface="MiSans" pitchFamily="2" charset="-122"/>
            </a:endParaRPr>
          </a:p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一个「抖抖手臂」，大树就成了有感情的人。</a:t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altLang="zh-CN" sz="900" dirty="0">
              <a:latin typeface="MiSans" pitchFamily="2" charset="-122"/>
              <a:ea typeface="MiSans" pitchFamily="2" charset="-122"/>
            </a:endParaRPr>
          </a:p>
        </p:txBody>
      </p:sp>
      <p:pic>
        <p:nvPicPr>
          <p:cNvPr id="20" name="Image 0" descr=" ">
            <a:extLst>
              <a:ext uri="{FF2B5EF4-FFF2-40B4-BE49-F238E27FC236}">
                <a16:creationId id="{B39A61FF-4594-BA76-36C1-51BC74E0E0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" y="4666977"/>
            <a:ext cx="9143952" cy="476188"/>
          </a:xfrm>
          <a:prstGeom prst="rect">
            <a:avLst/>
          </a:prstGeom>
          <a:ln>
            <a:noFill/>
          </a:ln>
        </p:spPr>
      </p:pic>
      <p:sp>
        <p:nvSpPr>
          <p:cNvPr id="2" name="Text 0">
            <a:extLst>
              <a:ext uri="{FF2B5EF4-FFF2-40B4-BE49-F238E27FC236}">
                <a16:creationId id="{D65B94E5-7AC1-F28E-7B68-7B3313B4AD7E}"/>
              </a:ext>
            </a:extLst>
          </p:cNvPr>
          <p:cNvSpPr/>
          <p:nvPr/>
        </p:nvSpPr>
        <p:spPr>
          <a:xfrm>
            <a:off x="285749" y="4852691"/>
            <a:ext cx="1390814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听听，秋的声音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Text 4">
            <a:extLst>
              <a:ext uri="{FF2B5EF4-FFF2-40B4-BE49-F238E27FC236}">
                <a16:creationId id="{BED90D52-2D89-9DC6-2B30-70A9E6CA1EF4}"/>
              </a:ext>
            </a:extLst>
          </p:cNvPr>
          <p:cNvSpPr/>
          <p:nvPr/>
        </p:nvSpPr>
        <p:spPr>
          <a:xfrm>
            <a:off x="7231025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统编版三上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Text 2">
            <a:extLst>
              <a:ext uri="{FF2B5EF4-FFF2-40B4-BE49-F238E27FC236}">
                <a16:creationId id="{60085A05-991F-7019-B415-F7C9AB4E1440}"/>
              </a:ext>
            </a:extLst>
          </p:cNvPr>
          <p:cNvSpPr/>
          <p:nvPr/>
        </p:nvSpPr>
        <p:spPr>
          <a:xfrm>
            <a:off x="3428982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03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id="{4C0A8FBE-418C-8853-EA33-C0853C58E4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807" b="7807"/>
          <a:stretch>
            <a:fillRect/>
          </a:stretch>
        </p:blipFill>
        <p:spPr>
          <a:xfrm>
            <a:off x="190499" y="2757464"/>
            <a:ext cx="3619481" cy="1719288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id="{2371A694-7975-EB79-592F-5BDECC6B44A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082" b="6082"/>
          <a:stretch>
            <a:fillRect/>
          </a:stretch>
        </p:blipFill>
        <p:spPr>
          <a:xfrm>
            <a:off x="3894048" y="190810"/>
            <a:ext cx="5097551" cy="2516756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251303" y="3128890"/>
            <a:ext cx="4448050" cy="12539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7740"/>
              </a:lnSpc>
            </a:pPr>
            <a:r>
              <a:rPr lang="en-US" altLang="zh-CN" sz="645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品读时刻</a:t>
            </a:r>
            <a:endParaRPr lang="en-US" sz="6450" dirty="0"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7" name="Shape 2"/>
          <p:cNvSpPr/>
          <p:nvPr/>
        </p:nvSpPr>
        <p:spPr>
          <a:xfrm>
            <a:off x="4029054" y="4852691"/>
            <a:ext cx="4829150" cy="10476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1" name="Shape 6"/>
          <p:cNvSpPr/>
          <p:nvPr/>
        </p:nvSpPr>
        <p:spPr>
          <a:xfrm>
            <a:off x="190499" y="190810"/>
            <a:ext cx="3524232" cy="2380940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2" name="Text 7"/>
          <p:cNvSpPr/>
          <p:nvPr/>
        </p:nvSpPr>
        <p:spPr>
          <a:xfrm>
            <a:off x="190499" y="190810"/>
            <a:ext cx="3619481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有新鲜感的词句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3" name="Text 8"/>
          <p:cNvSpPr/>
          <p:nvPr/>
        </p:nvSpPr>
        <p:spPr>
          <a:xfrm>
            <a:off x="190499" y="1719263"/>
            <a:ext cx="3562331" cy="9884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听听，秋的声音，从远方匆匆地来，向远方匆匆地去。</a:t>
            </a:r>
          </a:p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新鲜在哪：不说「秋天很短」，而说声音「匆匆地来、匆匆地去」，让人心里一紧。</a:t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</a:p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这样一写，惜秋的心情就有了。</a:t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pic>
        <p:nvPicPr>
          <p:cNvPr id="19" name="Image 0" descr=" ">
            <a:extLst>
              <a:ext uri="{FF2B5EF4-FFF2-40B4-BE49-F238E27FC236}">
                <a16:creationId id="{3878439D-C8C2-812B-B888-8B1014875B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666977"/>
            <a:ext cx="9143952" cy="476188"/>
          </a:xfrm>
          <a:prstGeom prst="rect">
            <a:avLst/>
          </a:prstGeom>
          <a:ln>
            <a:noFill/>
          </a:ln>
        </p:spPr>
      </p:pic>
      <p:sp>
        <p:nvSpPr>
          <p:cNvPr id="3" name="Text 0">
            <a:extLst>
              <a:ext uri="{FF2B5EF4-FFF2-40B4-BE49-F238E27FC236}">
                <a16:creationId id="{5A8EB87F-B186-655F-5ABD-F8103F97F918}"/>
              </a:ext>
            </a:extLst>
          </p:cNvPr>
          <p:cNvSpPr/>
          <p:nvPr/>
        </p:nvSpPr>
        <p:spPr>
          <a:xfrm>
            <a:off x="285749" y="4852691"/>
            <a:ext cx="1390814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听听，秋的声音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Text 4">
            <a:extLst>
              <a:ext uri="{FF2B5EF4-FFF2-40B4-BE49-F238E27FC236}">
                <a16:creationId id="{88643130-6C5F-001D-A5E9-705F6DF34518}"/>
              </a:ext>
            </a:extLst>
          </p:cNvPr>
          <p:cNvSpPr/>
          <p:nvPr/>
        </p:nvSpPr>
        <p:spPr>
          <a:xfrm>
            <a:off x="7231025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统编版三上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Text 2">
            <a:extLst>
              <a:ext uri="{FF2B5EF4-FFF2-40B4-BE49-F238E27FC236}">
                <a16:creationId id="{B27CD63E-560B-AB04-5DE7-E92E5D29FDF2}"/>
              </a:ext>
            </a:extLst>
          </p:cNvPr>
          <p:cNvSpPr/>
          <p:nvPr/>
        </p:nvSpPr>
        <p:spPr>
          <a:xfrm>
            <a:off x="3428982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03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id="{EF93D6B1-C1D5-8FDA-B9C7-202A86FF04E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rcRect b="19688"/>
          <a:stretch>
            <a:fillRect/>
          </a:stretch>
        </p:blipFill>
        <p:spPr>
          <a:xfrm>
            <a:off x="0" y="335"/>
            <a:ext cx="9143952" cy="514283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id="{2A395852-B497-E09E-B7EA-AFBA766BD754}"/>
              </a:ext>
            </a:extLst>
          </p:cNvPr>
          <p:cNvSpPr/>
          <p:nvPr/>
        </p:nvSpPr>
        <p:spPr>
          <a:xfrm>
            <a:off x="48" y="-1"/>
            <a:ext cx="9143952" cy="5143165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id="{3BDAEA4F-BD9D-CAA7-0788-1EFBEC6C9131}"/>
              </a:ext>
            </a:extLst>
          </p:cNvPr>
          <p:cNvSpPr/>
          <p:nvPr/>
        </p:nvSpPr>
        <p:spPr>
          <a:xfrm>
            <a:off x="0" y="0"/>
            <a:ext cx="9143952" cy="5143165"/>
          </a:xfrm>
          <a:prstGeom prst="rect">
            <a:avLst/>
          </a:prstGeom>
          <a:solidFill>
            <a:schemeClr val="bg2">
              <a:lumMod val="5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2945293" y="1879080"/>
            <a:ext cx="6389110" cy="2787898"/>
          </a:xfrm>
          <a:prstGeom prst="rect">
            <a:avLst/>
          </a:prstGeom>
          <a:noFill/>
          <a:ln/>
        </p:spPr>
        <p:txBody>
          <a:bodyPr wrap="square" lIns="0" tIns="0" rIns="0" bIns="0" rtlCol="0" anchor="b" anchorCtr="0">
            <a:noAutofit/>
          </a:bodyPr>
          <a:lstStyle/>
          <a:p>
            <a:pPr>
              <a:lnSpc>
                <a:spcPts val="22500"/>
              </a:lnSpc>
            </a:pPr>
            <a:r>
              <a:rPr lang="en-US" sz="17000" spc="750" dirty="0">
                <a:solidFill>
                  <a:srgbClr val="242424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5★</a:t>
            </a:r>
            <a:endParaRPr lang="en-US" sz="17000" spc="750" dirty="0"/>
          </a:p>
        </p:txBody>
      </p:sp>
      <p:sp>
        <p:nvSpPr>
          <p:cNvPr id="9" name="Shape 6"/>
          <p:cNvSpPr/>
          <p:nvPr/>
        </p:nvSpPr>
        <p:spPr>
          <a:xfrm>
            <a:off x="190499" y="3390793"/>
            <a:ext cx="2471725" cy="1085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0" name="Text 7"/>
          <p:cNvSpPr/>
          <p:nvPr/>
        </p:nvSpPr>
        <p:spPr>
          <a:xfrm>
            <a:off x="190499" y="3240000"/>
            <a:ext cx="256697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小组星光积分榜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90499" y="3678093"/>
            <a:ext cx="2509825" cy="821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>答到 +1★｜朗读正确有节奏 +2★。</a:t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  <a:p>
            <a:pPr>
              <a:lnSpc>
                <a:spcPts val="1260"/>
              </a:lnSpc>
            </a:pP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>找到新鲜感词句并说清理由 +3★。</a:t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  <a:p>
            <a:pPr>
              <a:lnSpc>
                <a:spcPts val="1260"/>
              </a:lnSpc>
            </a:pP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>仿写一小节 +2★｜书写姿势端正 +1★。</a:t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899527" y="801176"/>
            <a:ext cx="3995192" cy="994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7740"/>
              </a:lnSpc>
            </a:pPr>
            <a:r>
              <a:rPr lang="en-US" sz="5400" dirty="0">
                <a:solidFill>
                  <a:srgbClr val="242424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今日星光小组</a:t>
            </a:r>
            <a:endParaRPr lang="en-US" sz="5400" dirty="0"/>
          </a:p>
        </p:txBody>
      </p:sp>
      <p:pic>
        <p:nvPicPr>
          <p:cNvPr id="16" name="Image 0" descr=" ">
            <a:extLst>
              <a:ext uri="{FF2B5EF4-FFF2-40B4-BE49-F238E27FC236}">
                <a16:creationId id="{EA355BD4-EC1C-F621-6857-73EFEE1452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666977"/>
            <a:ext cx="9143952" cy="476188"/>
          </a:xfrm>
          <a:prstGeom prst="rect">
            <a:avLst/>
          </a:prstGeom>
          <a:ln>
            <a:noFill/>
          </a:ln>
        </p:spPr>
      </p:pic>
      <p:sp>
        <p:nvSpPr>
          <p:cNvPr id="3" name="Text 0">
            <a:extLst>
              <a:ext uri="{FF2B5EF4-FFF2-40B4-BE49-F238E27FC236}">
                <a16:creationId id="{7172675C-C9F8-DD6D-7717-2F6718E6F55D}"/>
              </a:ext>
            </a:extLst>
          </p:cNvPr>
          <p:cNvSpPr/>
          <p:nvPr/>
        </p:nvSpPr>
        <p:spPr>
          <a:xfrm>
            <a:off x="285749" y="4852691"/>
            <a:ext cx="1390814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听听，秋的声音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Text 4">
            <a:extLst>
              <a:ext uri="{FF2B5EF4-FFF2-40B4-BE49-F238E27FC236}">
                <a16:creationId id="{19D77549-3D44-5DA0-7EA5-FC5590B5E89E}"/>
              </a:ext>
            </a:extLst>
          </p:cNvPr>
          <p:cNvSpPr/>
          <p:nvPr/>
        </p:nvSpPr>
        <p:spPr>
          <a:xfrm>
            <a:off x="7231025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统编版三上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Text 2">
            <a:extLst>
              <a:ext uri="{FF2B5EF4-FFF2-40B4-BE49-F238E27FC236}">
                <a16:creationId id="{86FE76CB-7C3B-40B1-CE90-7EDB2D6A869E}"/>
              </a:ext>
            </a:extLst>
          </p:cNvPr>
          <p:cNvSpPr/>
          <p:nvPr/>
        </p:nvSpPr>
        <p:spPr>
          <a:xfrm>
            <a:off x="3428982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03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5"/>
          <p:cNvSpPr/>
          <p:nvPr/>
        </p:nvSpPr>
        <p:spPr>
          <a:xfrm>
            <a:off x="190499" y="1300328"/>
            <a:ext cx="9620746" cy="12539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7740"/>
              </a:lnSpc>
            </a:pPr>
            <a:r>
              <a:rPr lang="en-US" sz="360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词句闯关 · 三类提醒</a:t>
            </a:r>
            <a:endParaRPr lang="en-US" sz="3600" dirty="0"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Shape 6"/>
          <p:cNvSpPr/>
          <p:nvPr/>
        </p:nvSpPr>
        <p:spPr>
          <a:xfrm>
            <a:off x="190499" y="2757463"/>
            <a:ext cx="2471725" cy="1085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0" name="Text 7"/>
          <p:cNvSpPr/>
          <p:nvPr/>
        </p:nvSpPr>
        <p:spPr>
          <a:xfrm>
            <a:off x="190499" y="2757463"/>
            <a:ext cx="256697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读准音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90499" y="3195556"/>
            <a:ext cx="2509825" cy="321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zh-CN" altLang="en-US" sz="8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抖 dǒu、蟋 xī、蟀 shuài、振 zhèn、掠 lüè、吟 yín。</a:t>
            </a:r>
            <a:endParaRPr lang="en-US" sz="800" dirty="0">
              <a:latin typeface="MiSans" pitchFamily="2" charset="-122"/>
              <a:ea typeface="MiSans" pitchFamily="2" charset="-122"/>
            </a:endParaRPr>
          </a:p>
          <a:p>
            <a:pPr>
              <a:lnSpc>
                <a:spcPts val="1260"/>
              </a:lnSpc>
            </a:pPr>
            <a:r>
              <a:rPr lang="zh-CN" altLang="en-US" sz="8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「蟋蟀」都是虫字旁，读音要读准。</a:t>
            </a:r>
            <a:endParaRPr lang="en-US" sz="8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333733" y="2757463"/>
            <a:ext cx="2471725" cy="1085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3" name="Text 10"/>
          <p:cNvSpPr/>
          <p:nvPr/>
        </p:nvSpPr>
        <p:spPr>
          <a:xfrm>
            <a:off x="3333733" y="2757463"/>
            <a:ext cx="256697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</a:rPr>
              <a:t>认清形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3333733" y="3195556"/>
            <a:ext cx="2509825" cy="321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「割」是利刀旁，与刀有关。</a:t>
            </a:r>
            <a:endParaRPr lang="en-US" sz="900" dirty="0">
              <a:solidFill>
                <a:srgbClr val="878787">
                  <a:alpha val="100000"/>
                </a:srgbClr>
              </a:solidFill>
              <a:latin typeface="MiSans" pitchFamily="2" charset="-122"/>
              <a:ea typeface="MiSans" pitchFamily="2" charset="-122"/>
              <a:cs typeface="Inter Regular" pitchFamily="34" charset="-120"/>
            </a:endParaRPr>
          </a:p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「厅」是厂字头，里面是「丁」。</a:t>
            </a:r>
            <a:endParaRPr lang="en-US" sz="900" dirty="0">
              <a:solidFill>
                <a:srgbClr val="878787">
                  <a:alpha val="100000"/>
                </a:srgbClr>
              </a:solidFill>
              <a:latin typeface="MiSans" pitchFamily="2" charset="-122"/>
              <a:ea typeface="MiSans" pitchFamily="2" charset="-122"/>
              <a:cs typeface="Inter Regular" pitchFamily="34" charset="-12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6481729" y="2757463"/>
            <a:ext cx="2471725" cy="1085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6" name="Text 13"/>
          <p:cNvSpPr/>
          <p:nvPr/>
        </p:nvSpPr>
        <p:spPr>
          <a:xfrm>
            <a:off x="6481729" y="2757463"/>
            <a:ext cx="256697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理解义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481729" y="3195556"/>
            <a:ext cx="2509825" cy="321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zh-CN" altLang="en-US" sz="8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道别：告别、离别。</a:t>
            </a:r>
            <a:endParaRPr lang="en-US" sz="800" dirty="0">
              <a:latin typeface="MiSans" pitchFamily="2" charset="-122"/>
              <a:ea typeface="MiSans" pitchFamily="2" charset="-122"/>
            </a:endParaRPr>
          </a:p>
          <a:p>
            <a:pPr>
              <a:lnSpc>
                <a:spcPts val="1260"/>
              </a:lnSpc>
            </a:pPr>
            <a:r>
              <a:rPr lang="zh-CN" altLang="en-US" sz="8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歌韵：歌曲的韵味，这里指好听的声音。</a:t>
            </a:r>
            <a:endParaRPr lang="en-US" sz="800" dirty="0">
              <a:latin typeface="MiSans" pitchFamily="2" charset="-122"/>
              <a:ea typeface="MiSans" pitchFamily="2" charset="-122"/>
            </a:endParaRPr>
          </a:p>
          <a:p>
            <a:pPr>
              <a:lnSpc>
                <a:spcPts val="1260"/>
              </a:lnSpc>
            </a:pPr>
            <a:r>
              <a:rPr lang="zh-CN" altLang="en-US" sz="8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辽阔：宽广、空旷。</a:t>
            </a:r>
            <a:endParaRPr lang="en-US" sz="800" dirty="0">
              <a:latin typeface="MiSans" pitchFamily="2" charset="-122"/>
              <a:ea typeface="MiSans" pitchFamily="2" charset="-122"/>
            </a:endParaRPr>
          </a:p>
        </p:txBody>
      </p:sp>
      <p:pic>
        <p:nvPicPr>
          <p:cNvPr id="19" name="Image 0" descr=" ">
            <a:extLst>
              <a:ext uri="{FF2B5EF4-FFF2-40B4-BE49-F238E27FC236}">
                <a16:creationId id="{B72FDC39-100A-C441-8DF2-05BCE03026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66977"/>
            <a:ext cx="9143952" cy="476188"/>
          </a:xfrm>
          <a:prstGeom prst="rect">
            <a:avLst/>
          </a:prstGeom>
          <a:ln>
            <a:noFill/>
          </a:ln>
        </p:spPr>
      </p:pic>
      <p:sp>
        <p:nvSpPr>
          <p:cNvPr id="2" name="Text 0">
            <a:extLst>
              <a:ext uri="{FF2B5EF4-FFF2-40B4-BE49-F238E27FC236}">
                <a16:creationId id="{CFE7A759-6320-9078-AEE0-6FA22B7FA046}"/>
              </a:ext>
            </a:extLst>
          </p:cNvPr>
          <p:cNvSpPr/>
          <p:nvPr/>
        </p:nvSpPr>
        <p:spPr>
          <a:xfrm>
            <a:off x="285749" y="4852691"/>
            <a:ext cx="1390814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听听，秋的声音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Text 4">
            <a:extLst>
              <a:ext uri="{FF2B5EF4-FFF2-40B4-BE49-F238E27FC236}">
                <a16:creationId id="{252F447D-3BA7-DB58-36FC-4D76EFA402D0}"/>
              </a:ext>
            </a:extLst>
          </p:cNvPr>
          <p:cNvSpPr/>
          <p:nvPr/>
        </p:nvSpPr>
        <p:spPr>
          <a:xfrm>
            <a:off x="7231025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统编版三上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Text 2">
            <a:extLst>
              <a:ext uri="{FF2B5EF4-FFF2-40B4-BE49-F238E27FC236}">
                <a16:creationId id="{638B2967-CA12-DA2E-F418-120646CC70D6}"/>
              </a:ext>
            </a:extLst>
          </p:cNvPr>
          <p:cNvSpPr/>
          <p:nvPr/>
        </p:nvSpPr>
        <p:spPr>
          <a:xfrm>
            <a:off x="3428982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02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>
            <a:extLst>
              <a:ext uri="{FF2B5EF4-FFF2-40B4-BE49-F238E27FC236}">
                <a16:creationId id="{5FC5D7DE-DF26-2411-FE41-89CAB4886B1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rcRect b="29474"/>
          <a:stretch>
            <a:fillRect/>
          </a:stretch>
        </p:blipFill>
        <p:spPr>
          <a:xfrm>
            <a:off x="48" y="335"/>
            <a:ext cx="9143952" cy="514283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id="{C284F5EC-F7E0-97BE-65F8-155C4A76486C}"/>
              </a:ext>
            </a:extLst>
          </p:cNvPr>
          <p:cNvSpPr/>
          <p:nvPr/>
        </p:nvSpPr>
        <p:spPr>
          <a:xfrm>
            <a:off x="0" y="0"/>
            <a:ext cx="9143952" cy="5143165"/>
          </a:xfrm>
          <a:prstGeom prst="rect">
            <a:avLst/>
          </a:prstGeom>
          <a:solidFill>
            <a:schemeClr val="bg2">
              <a:lumMod val="5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190499" y="190810"/>
            <a:ext cx="10035362" cy="12539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7740"/>
              </a:lnSpc>
            </a:pPr>
            <a:r>
              <a:rPr lang="en-US" altLang="zh-CN" sz="3600" dirty="0">
                <a:solidFill>
                  <a:srgbClr val="242424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幸运大转盘</a:t>
            </a:r>
            <a:r>
              <a:rPr lang="en-US" altLang="zh-CN" sz="360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/>
            </a:r>
            <a:r>
              <a:rPr lang="en-US" altLang="zh-CN" sz="3600" dirty="0">
                <a:solidFill>
                  <a:srgbClr val="242424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/>
            </a:r>
            <a:endParaRPr lang="en-US" altLang="zh-CN" sz="3600" dirty="0"/>
          </a:p>
        </p:txBody>
      </p:sp>
      <p:sp>
        <p:nvSpPr>
          <p:cNvPr id="9" name="Shape 6"/>
          <p:cNvSpPr/>
          <p:nvPr/>
        </p:nvSpPr>
        <p:spPr>
          <a:xfrm>
            <a:off x="3629006" y="1647945"/>
            <a:ext cx="2471725" cy="76190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0" name="Text 7"/>
          <p:cNvSpPr/>
          <p:nvPr/>
        </p:nvSpPr>
        <p:spPr>
          <a:xfrm>
            <a:off x="3629007" y="1647945"/>
            <a:ext cx="256697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b="1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第  组</a:t>
            </a:r>
            <a:endParaRPr lang="en-US" sz="2250" b="1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629006" y="2086038"/>
            <a:ext cx="2509825" cy="154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朗读第 1、2 节</a:t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629006" y="2600321"/>
            <a:ext cx="2471725" cy="76190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3" name="Text 10"/>
          <p:cNvSpPr/>
          <p:nvPr/>
        </p:nvSpPr>
        <p:spPr>
          <a:xfrm>
            <a:off x="3629007" y="2600321"/>
            <a:ext cx="256697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b="1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第  组</a:t>
            </a:r>
            <a:endParaRPr lang="en-US" sz="2250" b="1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3629006" y="3038414"/>
            <a:ext cx="2509825" cy="154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朗读第 3、4 节</a:t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6481729" y="1647945"/>
            <a:ext cx="2471725" cy="76190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6" name="Text 13"/>
          <p:cNvSpPr/>
          <p:nvPr/>
        </p:nvSpPr>
        <p:spPr>
          <a:xfrm>
            <a:off x="6481729" y="1647945"/>
            <a:ext cx="256697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b="1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第  组</a:t>
            </a:r>
            <a:endParaRPr lang="en-US" sz="2250" b="1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481729" y="2086038"/>
            <a:ext cx="2509825" cy="154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朗读第 5 节</a:t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6481729" y="2600321"/>
            <a:ext cx="2471725" cy="76190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9" name="Text 16"/>
          <p:cNvSpPr/>
          <p:nvPr/>
        </p:nvSpPr>
        <p:spPr>
          <a:xfrm>
            <a:off x="6481729" y="2600321"/>
            <a:ext cx="256697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b="1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第  组</a:t>
            </a: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/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6481729" y="3038414"/>
            <a:ext cx="2509825" cy="154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说说听到了哪些声音</a:t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pic>
        <p:nvPicPr>
          <p:cNvPr id="24" name="Image 0" descr=" ">
            <a:extLst>
              <a:ext uri="{FF2B5EF4-FFF2-40B4-BE49-F238E27FC236}">
                <a16:creationId id="{EEE1F9B6-D086-F301-B93E-262A9BEF00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666977"/>
            <a:ext cx="9143952" cy="476188"/>
          </a:xfrm>
          <a:prstGeom prst="rect">
            <a:avLst/>
          </a:prstGeom>
          <a:ln>
            <a:noFill/>
          </a:ln>
        </p:spPr>
      </p:pic>
      <p:sp>
        <p:nvSpPr>
          <p:cNvPr id="2" name="Text 0">
            <a:extLst>
              <a:ext uri="{FF2B5EF4-FFF2-40B4-BE49-F238E27FC236}">
                <a16:creationId id="{24FA1DED-ECE7-8538-A605-CAF63E8EB6CB}"/>
              </a:ext>
            </a:extLst>
          </p:cNvPr>
          <p:cNvSpPr/>
          <p:nvPr/>
        </p:nvSpPr>
        <p:spPr>
          <a:xfrm>
            <a:off x="285749" y="4852691"/>
            <a:ext cx="1390814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听听，秋的声音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Text 4">
            <a:extLst>
              <a:ext uri="{FF2B5EF4-FFF2-40B4-BE49-F238E27FC236}">
                <a16:creationId id="{9CD5E74A-1997-7846-A7E2-C6E166D64383}"/>
              </a:ext>
            </a:extLst>
          </p:cNvPr>
          <p:cNvSpPr/>
          <p:nvPr/>
        </p:nvSpPr>
        <p:spPr>
          <a:xfrm>
            <a:off x="7231025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转到谁，谁朗读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Text 2">
            <a:extLst>
              <a:ext uri="{FF2B5EF4-FFF2-40B4-BE49-F238E27FC236}">
                <a16:creationId id="{BB1C20ED-1A57-0F1D-5DAB-DE471496AAC9}"/>
              </a:ext>
            </a:extLst>
          </p:cNvPr>
          <p:cNvSpPr/>
          <p:nvPr/>
        </p:nvSpPr>
        <p:spPr>
          <a:xfrm>
            <a:off x="3428982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03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667226" y="2524131"/>
            <a:ext cx="2047864" cy="195237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3" name="Text 1"/>
          <p:cNvSpPr/>
          <p:nvPr/>
        </p:nvSpPr>
        <p:spPr>
          <a:xfrm>
            <a:off x="4667226" y="2524131"/>
            <a:ext cx="214311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基础作业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4667226" y="3666982"/>
            <a:ext cx="2085964" cy="155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zh-CN" altLang="en-US" sz="8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抄写本课生字，每字 2 遍；背诵喜欢的小节。</a:t>
            </a:r>
          </a:p>
        </p:txBody>
      </p:sp>
      <p:sp>
        <p:nvSpPr>
          <p:cNvPr id="5" name="Shape 3"/>
          <p:cNvSpPr/>
          <p:nvPr/>
        </p:nvSpPr>
        <p:spPr>
          <a:xfrm>
            <a:off x="6905590" y="2524131"/>
            <a:ext cx="2047864" cy="195237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6" name="Text 4"/>
          <p:cNvSpPr/>
          <p:nvPr/>
        </p:nvSpPr>
        <p:spPr>
          <a:xfrm>
            <a:off x="6905589" y="2524131"/>
            <a:ext cx="214311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挑战作业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7" name="Text 5"/>
          <p:cNvSpPr/>
          <p:nvPr/>
        </p:nvSpPr>
        <p:spPr>
          <a:xfrm>
            <a:off x="6905589" y="3666982"/>
            <a:ext cx="2085964" cy="3225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仿写一节：听听，秋的声音，＿＿＿＿，是＿＿＿＿。</a:t>
            </a:r>
          </a:p>
        </p:txBody>
      </p:sp>
      <p:sp>
        <p:nvSpPr>
          <p:cNvPr id="8" name="Text 6"/>
          <p:cNvSpPr/>
          <p:nvPr/>
        </p:nvSpPr>
        <p:spPr>
          <a:xfrm>
            <a:off x="190499" y="381285"/>
            <a:ext cx="3927752" cy="2234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7740"/>
              </a:lnSpc>
            </a:pPr>
            <a:r>
              <a:rPr lang="en-US" altLang="zh-CN" sz="645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作业与延伸</a:t>
            </a:r>
          </a:p>
          <a:p>
            <a:pPr>
              <a:lnSpc>
                <a:spcPts val="7740"/>
              </a:lnSpc>
            </a:pPr>
            <a:r>
              <a:rPr lang="en-US" sz="6450" dirty="0"/>
              <a:t/>
            </a:r>
            <a:endParaRPr lang="en-US" sz="6450" dirty="0"/>
          </a:p>
        </p:txBody>
      </p:sp>
      <p:pic>
        <p:nvPicPr>
          <p:cNvPr id="16" name="Image 0" descr=" ">
            <a:extLst>
              <a:ext uri="{FF2B5EF4-FFF2-40B4-BE49-F238E27FC236}">
                <a16:creationId id="{DCE83B11-A9A6-EB13-3AC3-4570988397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66977"/>
            <a:ext cx="9143952" cy="476188"/>
          </a:xfrm>
          <a:prstGeom prst="rect">
            <a:avLst/>
          </a:prstGeom>
          <a:ln>
            <a:noFill/>
          </a:ln>
        </p:spPr>
      </p:pic>
      <p:sp>
        <p:nvSpPr>
          <p:cNvPr id="12" name="Text 0">
            <a:extLst>
              <a:ext uri="{FF2B5EF4-FFF2-40B4-BE49-F238E27FC236}">
                <a16:creationId id="{126D2891-2CF4-699C-2591-73ACD219C6B7}"/>
              </a:ext>
            </a:extLst>
          </p:cNvPr>
          <p:cNvSpPr/>
          <p:nvPr/>
        </p:nvSpPr>
        <p:spPr>
          <a:xfrm>
            <a:off x="285749" y="4852691"/>
            <a:ext cx="1390814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听听，秋的声音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Text 4">
            <a:extLst>
              <a:ext uri="{FF2B5EF4-FFF2-40B4-BE49-F238E27FC236}">
                <a16:creationId id="{63EC4AAA-95DE-FFF6-B4AB-9B90478014FB}"/>
              </a:ext>
            </a:extLst>
          </p:cNvPr>
          <p:cNvSpPr/>
          <p:nvPr/>
        </p:nvSpPr>
        <p:spPr>
          <a:xfrm>
            <a:off x="7231025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统编版三上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4" name="Text 2">
            <a:extLst>
              <a:ext uri="{FF2B5EF4-FFF2-40B4-BE49-F238E27FC236}">
                <a16:creationId id="{DF4FBA21-7955-A7E5-344D-D2F59DA1F9AE}"/>
              </a:ext>
            </a:extLst>
          </p:cNvPr>
          <p:cNvSpPr/>
          <p:nvPr/>
        </p:nvSpPr>
        <p:spPr>
          <a:xfrm>
            <a:off x="3428982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03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25">
    <p:bg>
      <p:bgPr>
        <a:solidFill>
          <a:srgbClr val="EEF7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id="{FAD12A75-EDA9-4E1C-2E63-50343E0C61A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rcRect t="-106" b="8918"/>
          <a:stretch>
            <a:fillRect/>
          </a:stretch>
        </p:blipFill>
        <p:spPr>
          <a:xfrm>
            <a:off x="0" y="0"/>
            <a:ext cx="9143952" cy="5148791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id="{C8BBF3F4-27EF-34C3-9D32-B8146775036D}"/>
              </a:ext>
            </a:extLst>
          </p:cNvPr>
          <p:cNvSpPr/>
          <p:nvPr/>
        </p:nvSpPr>
        <p:spPr>
          <a:xfrm>
            <a:off x="0" y="0"/>
            <a:ext cx="9143952" cy="5148791"/>
          </a:xfrm>
          <a:prstGeom prst="rect">
            <a:avLst/>
          </a:prstGeom>
          <a:solidFill>
            <a:schemeClr val="bg2">
              <a:lumMod val="75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 0">
            <a:extLst>
              <a:ext uri="{FF2B5EF4-FFF2-40B4-BE49-F238E27FC236}">
                <a16:creationId id="{95623774-1D7F-DA20-1D0F-7E88E7CD5A5F}"/>
              </a:ext>
            </a:extLst>
          </p:cNvPr>
          <p:cNvSpPr/>
          <p:nvPr/>
        </p:nvSpPr>
        <p:spPr>
          <a:xfrm>
            <a:off x="285749" y="186048"/>
            <a:ext cx="1390814" cy="139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chemeClr val="accent6">
                    <a:lumMod val="75000"/>
                  </a:scheme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听听，秋的声音</a:t>
            </a:r>
            <a:endParaRPr lang="en-US" sz="825" b="1" dirty="0">
              <a:solidFill>
                <a:schemeClr val="accent6">
                  <a:lumMod val="7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Text 4">
            <a:extLst>
              <a:ext uri="{FF2B5EF4-FFF2-40B4-BE49-F238E27FC236}">
                <a16:creationId id="{294BD212-8331-B23B-370A-C460AECB3010}"/>
              </a:ext>
            </a:extLst>
          </p:cNvPr>
          <p:cNvSpPr/>
          <p:nvPr/>
        </p:nvSpPr>
        <p:spPr>
          <a:xfrm>
            <a:off x="7231025" y="186048"/>
            <a:ext cx="1644642" cy="139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chemeClr val="accent6">
                    <a:lumMod val="75000"/>
                  </a:scheme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第二单元 · 第7课</a:t>
            </a:r>
            <a:endParaRPr lang="en-US" sz="825" b="1" dirty="0">
              <a:solidFill>
                <a:schemeClr val="accent6">
                  <a:lumMod val="7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Text 2">
            <a:extLst>
              <a:ext uri="{FF2B5EF4-FFF2-40B4-BE49-F238E27FC236}">
                <a16:creationId id="{EB039B88-978D-0AF5-D59A-E0881645B11D}"/>
              </a:ext>
            </a:extLst>
          </p:cNvPr>
          <p:cNvSpPr/>
          <p:nvPr/>
        </p:nvSpPr>
        <p:spPr>
          <a:xfrm>
            <a:off x="3428982" y="186048"/>
            <a:ext cx="1644642" cy="139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chemeClr val="accent6">
                    <a:lumMod val="75000"/>
                  </a:scheme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下课啦</a:t>
            </a:r>
            <a:endParaRPr lang="en-US" sz="825" b="1" dirty="0">
              <a:solidFill>
                <a:schemeClr val="accent6">
                  <a:lumMod val="7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" name="Text 0"/>
          <p:cNvSpPr/>
          <p:nvPr/>
        </p:nvSpPr>
        <p:spPr>
          <a:xfrm>
            <a:off x="980546" y="1873341"/>
            <a:ext cx="7182861" cy="18730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/>
            <a:r>
              <a:rPr lang="en-US" altLang="zh-CN" sz="3150" dirty="0">
                <a:solidFill>
                  <a:schemeClr val="accent6">
                    <a:lumMod val="75000"/>
                  </a:scheme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记得把今天找到的「新鲜感词句」抄进积累本。</a:t>
            </a:r>
            <a:r>
              <a:rPr lang="en-US" sz="3150" dirty="0">
                <a:solidFill>
                  <a:schemeClr val="accent6">
                    <a:lumMod val="75000"/>
                  </a:scheme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/>
            </a:r>
          </a:p>
          <a:p>
            <a:pPr algn="ctr"/>
            <a:r>
              <a:rPr lang="en-US" sz="3150" dirty="0">
                <a:solidFill>
                  <a:srgbClr val="B2D699"/>
                </a:solidFill>
                <a:latin typeface="MiSans Demibold" pitchFamily="2" charset="-122"/>
                <a:ea typeface="MiSans Demibold" pitchFamily="2" charset="-122"/>
              </a:rPr>
              <a:t>下课前，用一句话说说你听到的秋天。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22">
    <p:bg>
      <p:bgPr>
        <a:solidFill>
          <a:srgbClr val="EEF7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id="{E0288ED9-8C1A-5C02-5448-E207F68FE65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rcRect b="6262"/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879740" y="571761"/>
            <a:ext cx="1801744" cy="4039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1500"/>
              </a:lnSpc>
            </a:pPr>
            <a:r>
              <a:rPr lang="en-US" sz="10500" dirty="0">
                <a:solidFill>
                  <a:schemeClr val="accent6">
                    <a:lumMod val="40000"/>
                    <a:lumOff val="60000"/>
                  </a:schemeClr>
                </a:solidFill>
                <a:latin typeface="MiSans Demibold" pitchFamily="2" charset="-122"/>
                <a:ea typeface="MiSans Demibold" pitchFamily="2" charset="-122"/>
                <a:cs typeface="Inter Light" pitchFamily="34" charset="-120"/>
              </a:rPr>
              <a:t>02</a:t>
            </a:r>
            <a:endParaRPr lang="en-US" sz="10500" dirty="0">
              <a:solidFill>
                <a:schemeClr val="accent6">
                  <a:lumMod val="40000"/>
                  <a:lumOff val="60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190499" y="2081276"/>
            <a:ext cx="5178616" cy="987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7740"/>
              </a:lnSpc>
            </a:pPr>
            <a:r>
              <a:rPr lang="en-US" altLang="zh-CN" sz="6450" dirty="0">
                <a:solidFill>
                  <a:srgbClr val="B2D699"/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自主阅读 · 读通诗歌</a:t>
            </a:r>
            <a:endParaRPr lang="en-US" sz="6450" dirty="0">
              <a:solidFill>
                <a:srgbClr val="B2D699"/>
              </a:solidFill>
              <a:latin typeface="MiSans Demibold" pitchFamily="2" charset="-122"/>
              <a:ea typeface="MiSans Demibold" pitchFamily="2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22">
    <p:bg>
      <p:bgPr>
        <a:solidFill>
          <a:srgbClr val="EEF7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id="{E0288ED9-8C1A-5C02-5448-E207F68FE65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rcRect b="6262"/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879740" y="571761"/>
            <a:ext cx="1801744" cy="4039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1500"/>
              </a:lnSpc>
            </a:pPr>
            <a:r>
              <a:rPr lang="en-US" sz="10500" dirty="0">
                <a:solidFill>
                  <a:schemeClr val="accent6">
                    <a:lumMod val="40000"/>
                    <a:lumOff val="60000"/>
                  </a:schemeClr>
                </a:solidFill>
                <a:latin typeface="MiSans Demibold" pitchFamily="2" charset="-122"/>
                <a:ea typeface="MiSans Demibold" pitchFamily="2" charset="-122"/>
                <a:cs typeface="Inter Light" pitchFamily="34" charset="-120"/>
              </a:rPr>
              <a:t>03</a:t>
            </a:r>
            <a:endParaRPr lang="en-US" sz="10500" dirty="0">
              <a:solidFill>
                <a:schemeClr val="accent6">
                  <a:lumMod val="40000"/>
                  <a:lumOff val="60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190499" y="2081276"/>
            <a:ext cx="5178616" cy="987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7740"/>
              </a:lnSpc>
            </a:pPr>
            <a:r>
              <a:rPr lang="en-US" altLang="zh-CN" sz="6450" dirty="0">
                <a:solidFill>
                  <a:srgbClr val="B2D699"/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品读感悟 · 想象仿写</a:t>
            </a:r>
            <a:endParaRPr lang="en-US" sz="6450" dirty="0">
              <a:solidFill>
                <a:srgbClr val="B2D699"/>
              </a:solidFill>
              <a:latin typeface="MiSans Demibold" pitchFamily="2" charset="-122"/>
              <a:ea typeface="MiSans Demibold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主题">
  <a:themeElements>
    <a:clrScheme name="Office 2013 - 2022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主题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438</TotalTime>
  <Words>1291</Words>
  <Application>Microsoft Macintosh PowerPoint</Application>
  <PresentationFormat>全屏显示(16:9)</PresentationFormat>
  <Paragraphs>176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9" baseType="lpstr">
      <vt:lpstr>Calibri</vt:lpstr>
      <vt:lpstr>MiSans</vt:lpstr>
      <vt:lpstr>MiSans Demibold</vt:lpstr>
      <vt:lpstr>Inter Medium</vt:lpstr>
      <vt:lpstr>MiSans Normal</vt:lpstr>
      <vt:lpstr>Arial</vt:lpstr>
      <vt:lpstr>Calibri Light</vt:lpstr>
      <vt:lpstr>Office 2013 - 2022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Blurlayer Presentation</dc:title>
  <dc:subject>PptxGenJS Presentation</dc:subject>
  <dc:creator>Blurlayer</dc:creator>
  <cp:lastModifiedBy>T204597</cp:lastModifiedBy>
  <cp:revision>22</cp:revision>
  <dcterms:created xsi:type="dcterms:W3CDTF">2025-06-25T03:30:32Z</dcterms:created>
  <dcterms:modified xsi:type="dcterms:W3CDTF">2026-07-17T06:36:59Z</dcterms:modified>
</cp:coreProperties>
</file>